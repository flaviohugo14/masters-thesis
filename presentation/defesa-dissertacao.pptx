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TEMPO ALVO TOTAL: 25 minutos.</a:t>
            </a:r>
          </a:p>
          <a:p/>
          <a:p>
            <a:r>
              <a:rPr sz="1200">
                <a:latin typeface="Arial"/>
              </a:rPr>
              <a:t>Bom dia/boa tarde. Agradeço à banca. Vou apresentar a dissertação 'Digitalização Bancária e Assimetrias Regionais no Brasil', orientada pelo Prof. Marco Crocco. (~20s)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Apresento em sete blocos. O núcleo é o bloco V (resultados quantitativos) e o VI (estudos de caso). Aproximadamente 25 minutos.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Bloco I. (~5s)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economia regional tratou historicamente a moeda como variável exógena. O Brasil de hoje mostra por que isso é insuficiente: 43,8% dos municípios não têm agência, 10 cidades concentram um quarto da rede e mais da metade do crédito, e só 10,5% recebem crédito proporcional ao que produzem — tudo isso durante a maior expansão digital da história do sistema. É esse paradoxo que a dissertação investiga. (~70s)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pergunta central é essa. Ela se desdobra em três eixos, e cada eixo tem um desfecho empírico próprio: agências (eixo i), IRC e ICO (eixo ii) e a razão IRF/IRE (eixo iii). Esse mapeamento eixo→desfecho organiza todo o Capítulo 3.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Cinco hipóteses. H1 é de datação, H2 a H4 mapeiam os três eixos e H5 testa o mecanismo de transmissão. Volto a elas no balanço final: quatro se sustentam, mas duas precisaram ser reformuladas.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base é pós-keynesiana. Quatro elos: moeda não neutra → preferência pela liquidez que varia no espaço → teoria do lugar central aplicada às finanças → drenagem de liquidez e distância funcional. A evidência internacional e nacional converge: o fechamento de agência tem efeito local, persistente, e o canal digital não o substitui. (~65s)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digitalização é dialética: difunde o serviço simples e concentra o complexo. A lacuna é precisa — ninguém havia testado isso em escala municipal no Brasil com indicadores que separassem volume de qualidade de crédito. É exatamente o que os capítulos 2 e 3 fazem.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base integra seis fontes que, na literatura nacional, eram usadas separadamente. O painel é censitário: 5.570 municípios, 15 anos. Uma ressalva importante: 2023 tem subnotificação de agências, então trunquei as análises de cobertura física em 2022.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Doze indicadores em três famílias. O ponto não trivial é o último: a razão IRF/IRE. Ela é a proxy de qualidade — divide financiamento de longo prazo por empréstimo de curto prazo. É ela que permite dizer se a digitalização mudou o volume ou a natureza do crédito. Esse é o indicador que carrega o argumento da dissertação.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Dois fatos: a virada IB→MB em 2015-16 e a explosão de uso em 2020. Mas repare no problema que isso cria: a série é nacional. Tenho quando o choque aconteceu, não onde ele bateu mais forte. Essa restrição define toda a estratégia de identificação.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O mapa mostra o padrão centro-periferia em estado bruto. Cinza = sem agência: quase 60% no Nordeste. Os círculos são o estoque de agências. E a cor mostra que só 10,5% dos municípios com banco recebem crédito proporcional ao que produzem. Este é o território sobre o qual o choque digital vai operar.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Aqui está a chave metodológica. Como o tratamento é nacional, uso o desenho shift-share: o choque agregado vezes a exposição ex-ante de cada município. β mede o efeito de um desvio-padrão adicional de exposição depois de 2020. O capítulo tem três camadas: quantitativa, qualitativa e normativa.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Antes de comparar antes e depois, preciso saber quando. Três testes formais. O sup-Wald aponta 2020-2021 em cinco das seis séries. Escolho t* = 2020 porque é a única data que aparece ao mesmo tempo em penetração e utilização, e porque tem interpretação econômica clara: pandemia e Pix. A ressalva do rodapé é importante e eu volto a ela.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exposição é a primeira componente principal de cinco variáveis pré-2014. Explica 44,6% da variância, com todos os loadings do mesmo sinal — o que valida a leitura unidimensional. Os maiores pesos: tamanho econômico e concentração bancária. O mapa mostra que a exposição tem geografia contígua — e é isso que justifica o modelo espacial mais adiante.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Este slide exige precisão. Os coeficientes pré-tratamento são positivos e decrescentes — ou seja, havia convergência entre municípios. Tendências paralelas estritas são rejeitadas, e eu digo isso abertamente. O que 2020 faz é congelar essa convergência. Por isso o coeficiente negativo do DiD é 'convergência interrompida', não 'queda absoluta'. Essa distinção volta na mediação e na robustez.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Esta é a tabela central. Três resultados: menos agências, portfólio mais concentrado e queda expressiva da qualidade do crédito. E um resultado aparentemente nulo — o IRC. Guardem esse zero: os próximos três slides mostram que ele é a soma de movimentos opostos que se cancelam. Longe de democratizar o crédito periférico, a digitalização alterou-o qualitativamente para pior. (~65s)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Aqui a hipótese inicial precisou ser corrigida. Eu esperava um gradiente linear na dependência física. Não é isso. No estoque de agências o efeito é em U invertido: as pontas perdem, o meio se preserva. Já em centralidade e qualidade o gradiente é monotônico e claro. A lição: o que decide não é o quanto o município dependia da agência, é a função que aquela agência cumpria.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Este é o resultado mais forte do trabalho. Nos quatro desfechos, efeito direto e spillover têm sinais opostos e magnitudes comparáveis. O que sai de um município reaparece no vizinho. Isso resolve o enigma do slide anterior: o IRC médio dá zero porque o efeito direto negativo é cancelado por um spillover positivo que os efeitos fixos absorviam sem aviso. É deslocamento, não desaparecimento. (~70s)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Aqui a hipótese H5 foi corrigida pelos dados. ψ positivo e forte confirma o elo teórico: onde há agência, há mais crédito longo. Mas o efeito mediado deu positivo e o efeito direto negativo — eles se cancelam. É um suppression effect. A explicação é amostral: a razão IRF/IRE só é definida onde existe mercado de crédito, o que exclui justamente as periferias onde o fechamento foi agudo. Conclusão: a agência não é um elo causal universal — seu papel mediador é ele próprio territorialmente heterogêneo. (~75s)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 média responde se o efeito é positivo ou negativo no município típico. Não é a minha pergunta. A quantílica mostra duas coisas. No IRC, o zero médio não é cancelamento simétrico: é efeito concentrado no topo. No IRF/IRE, o perfil é em U assimétrico — a perda é máxima exatamente onde o crédito longo já era escasso. Centralidade e qualidade do crédito se descolaram.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Quatro exercícios. Controles reais, placebo e matrizes alternativas sustentam os achados. O DiD sintético diverge, e eu não escondo isso: reporto e explico por quê. A binarização compara perda na periferia contra perda no centro, e nessa comparação o sinal pode inverter. Reconheço como limitação nas considerações finais.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Os modelos trabalham com a média de 3.666 municípios. Aqui eu desço ao território. Quatro casos em Minas, percorrendo o eixo centro-periferia, com o estado mantido constante para evitar ruído de comparação interestadual.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Aqui está a razão de existir da camada qualitativa. BH perde um terço da rede e ainda assim ganha 47% de centralidade — porque o entorno perde mais. Betim tem PIB de 20 bilhões, acesso digital pleno, e perde mais que Juiz de Fora, que tem metade do PIB. E Almenara não fechou nenhuma agência e mesmo assim viu o crédito longo cair 43%. Quatro trajetórias radicalmente diferentes sob o mesmo coeficiente médio. (~70s)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Este plano cruza os eixos ii e iii. Duas surpresas. Primeira: o quadrante desejável não pertence às metrópoles — pertence ao agronegócio do Centro-Oeste, onde o crédito rural direcionado sustenta o financiamento longo. Segunda: Almenara, com 5 agências, está melhor posicionada que Betim, com 16. Cobertura física e função financeira são dimensões distintas.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Traduzo os coeficientes em três exercícios. Reduzir fechamento alivia mas não reverte. Homogeneizar conectividade não basta — Betim prova isso. E um piso de agências não teria evitado a deterioração do crédito longo, porque o canal dominante é tecnológico. Almenara é o caso-limite dessa terceira conclusão.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Três recomendações. A primeira é a mais importante e sai diretamente da mediação: regular funções financeiras, não contagem de agências. A segunda vem do SLX e da quantílica: política uniforme sobre território heterogêneo produz resultados desiguais. A terceira é de coordenação institucional. (~50s)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O balanço honesto: quatro sustentadas, duas delas com reformulação. H3 sai mais forte do que entrou, porque ganhou um mecanismo espacial explícito. H2 e H5 foram corrigidas pelos dados. E é justamente aí que a pesquisa aprendeu o que não sabia ao começar: ao desmontar as suposições de uniformidade. (~65s)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Quatro contribuições e quatro limitações que eu assumo abertamente. A mais séria é a primeira das limitações: a ESTBAN registra saldos contábeis, não operações novas, então não consigo separar contração de oferta de mudança de demanda. A segunda é a identificação temporal — o choque de 2020 operou sobre um território que já estava em movimento.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Fecho onde comecei. A moeda não é exógena ao desenvolvimento regional. A digitalização não suspendeu a hierarquia financeira — reorganizou-a. Quatro achados sustentam isso. E a lição de política é a última linha: sem desenho regulatório atento ao território, a promessa de inclusão vira mais um vetor de desigualdade.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Obrigado. À disposição para as arguições. (~10s)</a:t>
            </a:r>
          </a:p>
          <a:p/>
          <a:p>
            <a:r>
              <a:rPr sz="1200">
                <a:latin typeface="Arial"/>
              </a:rPr>
              <a:t>TEMPO ACUMULADO ESTIMADO: ~25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82296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4" name="Picture 3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66928"/>
            <a:ext cx="2331720" cy="585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4813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E7688"/>
                </a:solidFill>
                <a:latin typeface="Arial"/>
                <a:cs typeface="Arial"/>
              </a:rPr>
              <a:t>UNIVERSIDADE FEDERAL DE MINAS GERAIS  ·  FACULDADE DE CIÊNCIAS ECONÔMICAS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7688"/>
                </a:solidFill>
                <a:latin typeface="Arial"/>
                <a:cs typeface="Arial"/>
              </a:rPr>
              <a:t>CENTRO DE DESENVOLVIMENTO E PLANEJAMENTO REGIONAL (CEDEPLAR)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53F56"/>
                </a:solidFill>
                <a:latin typeface="Arial"/>
                <a:cs typeface="Arial"/>
              </a:rPr>
              <a:t>Digitalização Bancária e Assimetrias
Regionais no Brasil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246120"/>
            <a:ext cx="1234440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Reconfiguração das redes de agências, qualidade do crédito
e deslocamento espacial (2009–2023)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1596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DEFESA DE DISSERTAÇÃO DE MESTRADO EM ECONOMIA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663440"/>
            <a:ext cx="4617720" cy="120700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4663440"/>
            <a:ext cx="50292" cy="120700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4809744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Flávio Hugo Pangracio Silva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E7688"/>
                </a:solidFill>
                <a:latin typeface="Arial"/>
                <a:cs typeface="Arial"/>
              </a:rPr>
              <a:t>Mestrando em Economia — CEDEPLAR/UFMG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Orientador:  </a:t>
            </a: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Prof. Dr. Marco Aurélio Crocco Afonso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0448" y="4663440"/>
            <a:ext cx="4617720" cy="1207008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4663440"/>
            <a:ext cx="50292" cy="120700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4809744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BANCA EXAMINADORA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Prof. Dr. Marco Aurélio Crocco Afonso  (orientador)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Prof. Dr. Igor Santos Tupy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Prof. Dr. Frederico Gonzaga Jayme Jr.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08990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E7688"/>
                </a:solidFill>
                <a:latin typeface="Arial"/>
                <a:cs typeface="Arial"/>
              </a:rPr>
              <a:t>Belo Horizonte (MG)  ·  10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Roteiro da apresentação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981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Roteiro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</a:t>
            </a:r>
          </a:p>
        </p:txBody>
      </p:sp>
      <p:pic>
        <p:nvPicPr>
          <p:cNvPr id="7" name="Picture 6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1481328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45720" cy="57607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572768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6362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Motivação e problema de pesquisa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63624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Lacuna, pergunta, objetivos e hipóteses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15636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9696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39696"/>
            <a:ext cx="45720" cy="57607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231136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221991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Referencial teórico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21991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Hierarquia financeira, preferência pela liquidez e digitalização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2221991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98063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798063"/>
            <a:ext cx="45720" cy="57607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89503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8803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Base empírica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880359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Fontes, painel municipal e indicadores construídos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2880359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56431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456431"/>
            <a:ext cx="45720" cy="57607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547871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IV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538727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Estratégia empírica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538727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Shift-share, datação do choque e exposição ex-ante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3538727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14799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114799"/>
            <a:ext cx="45720" cy="57607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206239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197095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Resultados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197095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DiD contínuo, heterogeneidade, spillovers, mediação e quantílica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4197095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7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73167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773167"/>
            <a:ext cx="45720" cy="57607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864607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855463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Estudos de caso (MG)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855463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Belo Horizonte, Juiz de Fora, Betim e Almenara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5775" y="4855463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431535"/>
            <a:ext cx="10911535" cy="5760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431535"/>
            <a:ext cx="45720" cy="57607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522975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693A"/>
                </a:solidFill>
                <a:latin typeface="Arial"/>
                <a:cs typeface="Arial"/>
              </a:rPr>
              <a:t>VII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513831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53F56"/>
                </a:solidFill>
                <a:latin typeface="Arial"/>
                <a:cs typeface="Arial"/>
              </a:rPr>
              <a:t>Implicações e conclusões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513831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688"/>
                </a:solidFill>
                <a:latin typeface="Arial"/>
                <a:cs typeface="Arial"/>
              </a:rPr>
              <a:t>Contrafactuais, balanço das hipóteses e limitações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45775" y="5513831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3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99846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Ao final: slides de anexo com resultados complementares e testes de robustez.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Motivação e problema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A lacuna da moeda na teoria regional  ·  O duplo movimento brasileiro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Pergunta de pesquisa, objetivos e hipóteses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53F56"/>
                </a:solidFill>
                <a:latin typeface="Arial"/>
                <a:cs typeface="Arial"/>
              </a:rPr>
              <a:t>O ponto de partida: moeda, território e o duplo movimento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87627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I. Motivação e problema de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71600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693A"/>
                </a:solidFill>
                <a:latin typeface="Arial"/>
                <a:cs typeface="Arial"/>
              </a:rPr>
              <a:t>“</a:t>
            </a:r>
            <a:r>
              <a:rPr sz="1500" b="0" i="1">
                <a:solidFill>
                  <a:srgbClr val="353F56"/>
                </a:solidFill>
                <a:latin typeface="Arial"/>
                <a:cs typeface="Arial"/>
              </a:rPr>
              <a:t>Modelos consagrados, sejam neoclássicos, de causação cumulativa ou de insumo-produto, tratam a moeda e os fluxos monetários como exógenos, incapazes de explicar as assimetrias regionais.</a:t>
            </a:r>
            <a:r>
              <a:rPr sz="1500" b="1" i="0">
                <a:solidFill>
                  <a:srgbClr val="FF693A"/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9696"/>
            <a:ext cx="6720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7688"/>
                </a:solidFill>
                <a:latin typeface="Arial"/>
                <a:cs typeface="Arial"/>
              </a:rPr>
              <a:t>CROCCO et al. (2006)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05456"/>
            <a:ext cx="6720840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766060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88336"/>
            <a:ext cx="6464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A promessa.  </a:t>
            </a:r>
            <a:r>
              <a:rPr sz="1500" b="0" i="0">
                <a:solidFill>
                  <a:srgbClr val="252B3A"/>
                </a:solidFill>
                <a:latin typeface="Arial"/>
                <a:cs typeface="Arial"/>
              </a:rPr>
              <a:t>A digitalização financeira é celebrada como mecanismo democratizante do acesso a serviços bancários.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98520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20796"/>
            <a:ext cx="6464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O duplo movimento.  </a:t>
            </a:r>
            <a:r>
              <a:rPr sz="1500" b="0" i="0">
                <a:solidFill>
                  <a:srgbClr val="252B3A"/>
                </a:solidFill>
                <a:latin typeface="Arial"/>
                <a:cs typeface="Arial"/>
              </a:rPr>
              <a:t>Municípios periféricos enfrentam, ao mesmo tempo, retração acelerada da rede física e exclusão digital.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30980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953256"/>
            <a:ext cx="6464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A hipótese de fundo.  </a:t>
            </a:r>
            <a:r>
              <a:rPr sz="1500" b="0" i="0">
                <a:solidFill>
                  <a:srgbClr val="252B3A"/>
                </a:solidFill>
                <a:latin typeface="Arial"/>
                <a:cs typeface="Arial"/>
              </a:rPr>
              <a:t>A tecnologia não suspende a hierarquia financeira herdada — ela pode reorganizá-la sob nova lógica.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1371600"/>
            <a:ext cx="3849624" cy="299923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99248" y="1371600"/>
            <a:ext cx="50292" cy="299923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517904"/>
            <a:ext cx="3429000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693A"/>
                </a:solidFill>
                <a:latin typeface="Arial"/>
                <a:cs typeface="Arial"/>
              </a:rPr>
              <a:t>O paradoxo a explicar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A maior expansão digital da história do sistema financeiro brasileiro conviveu com a persistência — e, em dimensões-chave, o aprofundamento — da exclusão financeira qualitativa nas periferias.
Não se trata de perguntar se a digitalização chegou ao território, mas o que ela fez com a natureza do crédito que ali circula.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98848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O TERRITÓRIO SOBRE O QUAL O CHOQUE DIGITAL OPEROU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9744"/>
            <a:ext cx="2651760" cy="117043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09744"/>
            <a:ext cx="50292" cy="117043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956048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93A"/>
                </a:solidFill>
                <a:latin typeface="Arial"/>
                <a:cs typeface="Arial"/>
              </a:rPr>
              <a:t>43,8%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dos municípios sem agência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2.440 de 5.570, em 2022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92424" y="4809744"/>
            <a:ext cx="2651760" cy="117043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2424" y="4809744"/>
            <a:ext cx="50292" cy="117043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956048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353F56"/>
                </a:solidFill>
                <a:latin typeface="Arial"/>
                <a:cs typeface="Arial"/>
              </a:rPr>
              <a:t>25,8%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do estoque em 10 cidades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que reúnem 54,5% do saldo de crédito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4809744"/>
            <a:ext cx="2651760" cy="117043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4809744"/>
            <a:ext cx="50292" cy="117043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956048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353F56"/>
                </a:solidFill>
                <a:latin typeface="Arial"/>
                <a:cs typeface="Arial"/>
              </a:rPr>
              <a:t>10,5%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dos municípios com IRC &gt;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recebem mais crédito do que produzem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7112" y="4809744"/>
            <a:ext cx="2651760" cy="117043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97112" y="4809744"/>
            <a:ext cx="50292" cy="117043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4956048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693A"/>
                </a:solidFill>
                <a:latin typeface="Arial"/>
                <a:cs typeface="Arial"/>
              </a:rPr>
              <a:t>2009–2023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expansão do mobile banking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de ~0 a 288 transações per capita/ano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9846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Fonte: elaboração própria a partir da ESTBAN/BCB, do PIB municipal do IBGE e das Pesquisas FEBRABAN de Tecnologia Bancária (2013–2024).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RECORTE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Pergunta de pesquisa, objetivo e eixos analíticos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I. Motivação e problema de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71600"/>
            <a:ext cx="10911535" cy="868680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86868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517904"/>
            <a:ext cx="1049091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Pergunta de pesquisa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2B3A"/>
                </a:solidFill>
                <a:latin typeface="Arial"/>
                <a:cs typeface="Arial"/>
              </a:rPr>
              <a:t>Em que medida a digitalização do sistema bancário, ao mudar a geografia da prestação de serviços financeiros, redefine, atenua ou aprofunda as desigualdades regionais brasileiras?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TRÊS EIXOS ANALÍTICOS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06624"/>
            <a:ext cx="3511296" cy="21031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06624"/>
            <a:ext cx="3511296" cy="5029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712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EIXO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16382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Reconfiguração espacial
das redes bancárias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7705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Como a digitalização influencia o fechamento de agências físicas.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480560"/>
            <a:ext cx="3017520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628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7688"/>
                </a:solidFill>
                <a:latin typeface="Arial"/>
                <a:cs typeface="Arial"/>
              </a:rPr>
              <a:t>Desfecho: ln(n. de agências)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706624"/>
            <a:ext cx="3511296" cy="21031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706624"/>
            <a:ext cx="3511296" cy="5029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8712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EIXO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16382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Viés metropolitano
da digitalização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87705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Concentração de serviços financeiros em polos urbanos já consolidados.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2" y="4480560"/>
            <a:ext cx="3017520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5628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7688"/>
                </a:solidFill>
                <a:latin typeface="Arial"/>
                <a:cs typeface="Arial"/>
              </a:rPr>
              <a:t>Desfechos: IRC, 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06624"/>
            <a:ext cx="3511296" cy="21031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706624"/>
            <a:ext cx="3511296" cy="5029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8712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EIXO 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16382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Efeitos assimétricos sobre
a qualidade do crédito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87705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Diferença centro–periferia em disponibilidade, diversidade e condições de acesso.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2752" y="4480560"/>
            <a:ext cx="3017520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5628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7688"/>
                </a:solidFill>
                <a:latin typeface="Arial"/>
                <a:cs typeface="Arial"/>
              </a:rPr>
              <a:t>Desfecho: razão IRF/IRE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74336"/>
            <a:ext cx="10911535" cy="89611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974336"/>
            <a:ext cx="50292" cy="89611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120640"/>
            <a:ext cx="1049091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Objetivo geral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Investigar como a digitalização do sistema financeiro redefine as desigualdades regionais no Brasil, com foco nas transformações qualitativas do acesso ao crédito, articulando análise espacial de dados georreferenciados e estudos de caso territoriais comparativos.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HIPÓTESES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As cinco hipóteses de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I. Motivação e problema de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5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444752"/>
            <a:ext cx="10911535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44752"/>
            <a:ext cx="45720" cy="82296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9105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93A"/>
                </a:solidFill>
                <a:latin typeface="Arial"/>
                <a:cs typeface="Arial"/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72768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Existe uma quebra estrutural empiricamente identificável na intensidade da digitalização bancária entre 2015 e 2020, com impacto detectável sobre indicadores municipais.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1572768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Datação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9152"/>
            <a:ext cx="10911535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59152"/>
            <a:ext cx="45720" cy="82296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50545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93A"/>
                </a:solidFill>
                <a:latin typeface="Arial"/>
                <a:cs typeface="Arial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487168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O efeito sobre o fechamento de agências é maior em municípios com alta dependência inicial de canais físicos e baixa centralidade financeira.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2487168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Eixo 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73552"/>
            <a:ext cx="10911535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73552"/>
            <a:ext cx="45720" cy="82296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1985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93A"/>
                </a:solidFill>
                <a:latin typeface="Arial"/>
                <a:cs typeface="Arial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401568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A digitalização aprofunda o viés metropolitano, ampliando a divergência dos indicadores de centralidade entre faixas de porte municipal após o choque.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3401568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Eixo 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87952"/>
            <a:ext cx="10911535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87952"/>
            <a:ext cx="45720" cy="82296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3425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93A"/>
                </a:solidFill>
                <a:latin typeface="Arial"/>
                <a:cs typeface="Arial"/>
              </a:rPr>
              <a:t>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15968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O efeito sobre a qualidade do crédito é assimétrico: serviços básicos se difundem, mas os financiamentos de longo prazo se concentram nos centros.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Eixo iii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02352"/>
            <a:ext cx="10911535" cy="82296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102352"/>
            <a:ext cx="45720" cy="82296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24865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93A"/>
                </a:solidFill>
                <a:latin typeface="Arial"/>
                <a:cs typeface="Arial"/>
              </a:rPr>
              <a:t>H5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230368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Parte substancial do efeito sobre o crédito periférico opera através do fechamento de agências — canal de mediação entre tecnologia e território.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5230368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Mecanismo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Referencial teórico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Capítulo 1 — Das definições de centralidade e digitalização financeira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aos seus impactos regionais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Moeda, hierarquia financeira e desenvolvimento regional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II. Referencial teórico (Capítulo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7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A CADEIA TEÓRICA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00784"/>
            <a:ext cx="2624328" cy="195681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00784"/>
            <a:ext cx="2624328" cy="4572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653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Economia monetária
de 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054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Keynes (1973); Carvalho (1992)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950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A moeda não é neutra: sob incerteza, o agente pode reter riqueza na forma líquida em vez de produzir.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10128" y="2615184"/>
            <a:ext cx="100584" cy="118872"/>
          </a:xfrm>
          <a:prstGeom prst="rightArrow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00784"/>
            <a:ext cx="2624328" cy="195681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00784"/>
            <a:ext cx="2624328" cy="4572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653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Preferência pela liquidez
regional diferenciada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5054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Dow (1982); Chick &amp; Dow (1988)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88950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Na periferia, incerteza informacional maior → bancos retêm ativos líquidos e contraem o crédito longo.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71616" y="2615184"/>
            <a:ext cx="100584" cy="118872"/>
          </a:xfrm>
          <a:prstGeom prst="rightArrow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700784"/>
            <a:ext cx="2624328" cy="195681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700784"/>
            <a:ext cx="2624328" cy="4572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8653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Lugar central aplicado
às finanças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5054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Christaller (1966); Parr &amp; Budd (2000)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88950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Serviços complexos se concentram hierarquicamente; serviços básicos se dispersam.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3104" y="2615184"/>
            <a:ext cx="100584" cy="118872"/>
          </a:xfrm>
          <a:prstGeom prst="rightArrow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24544" y="1700784"/>
            <a:ext cx="2624328" cy="195681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24544" y="1700784"/>
            <a:ext cx="2624328" cy="4572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8653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Drenagem de liquidez
e distância funcional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054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Amado (2006); Crocco (2010, 2012); Alessandrini et al. (2009)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88950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A poupança periférica migra para os centros e volta como crédito em piores condições.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0480"/>
            <a:ext cx="5349240" cy="1060704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840480"/>
            <a:ext cx="50292" cy="106070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3986784"/>
            <a:ext cx="492861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Reestruturação bancária: a evidência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Leyshon et al. (2008): fechamento de −25% em áreas pobres vs. −16,9% em áreas ricas no Reino Unido.  Nguyen (2019): cada fechamento reduz o crédito a pequenas empresas em US$ 453 mil/ano, efeito local e persistente por até 6 anos.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3840480"/>
            <a:ext cx="5340096" cy="1060704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8776" y="3840480"/>
            <a:ext cx="50292" cy="106070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86784"/>
            <a:ext cx="4919472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No Brasil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Fonseca &amp; Matray (2024): a entrada de agências eleva depósitos, crédito, emprego e empreendedorismo — com mais força em desertos bancários.  Schuster (2023): onde a agência rural fecha, a alternativa raramente é digital.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84064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Síntese: </a:t>
            </a: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a concentração financeira nos centros gera eficiência para as instituições e, simultaneamente, barreiras de acesso que reproduzem dualidades espaciais. O crédito de longo prazo, intensivo em informação tácita, é o primeiro a recuar quando a relação interpessoal se rompe.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53F56"/>
                </a:solidFill>
                <a:latin typeface="Arial"/>
                <a:cs typeface="Arial"/>
              </a:rPr>
              <a:t>A dialética da digitalização e a lacuna que a dissertação preenche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38097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II. Referencial teórico (Capítulo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8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71600"/>
            <a:ext cx="5349240" cy="221284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221284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36192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A PROMESSA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Plataformas digitais ampliam o alcance de serviços financeiros básicos (pagamentos, saques, transferências) e reduzem custos de operação.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No Brasil: Pix, Mobile Banking e correspondentes ampliam a bancarização elementar mesmo onde não há agência.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371600"/>
            <a:ext cx="5340096" cy="221284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371600"/>
            <a:ext cx="50292" cy="22128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36192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A CONTRAPARTIDA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Operações de maior valor agregado seguem dependendo de provedores nos grandes centros (Hashimoto et al., 2022): a lógica do lugar central persiste em chave digital.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Forma-se uma “periferia digital” (Guerra-Leal et al., 2021; Malaquias, 2020): excluída até da bancarização elementar.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85615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A LACUNA IDENTIFICADA E A CONTRIBUIÇÃO DESTA DISSERTAÇÃO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10812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33087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A tradição pós-keynesiana brasileira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documentou o peso da concentração espacial sobre a preferência pela liquidez regional, mas não incorporou a digitalização como variável capaz de mudar a natureza da intermediação.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34305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56581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A evidência internacional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sobre a assimetria territorial da substituição de canais nunca havia sido testada em escala municipal no Brasil, com indicadores que separem volume de qualidade do crédito.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57799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80075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Limitações metodológicas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na aplicação de econometria espacial e subexploração dos efeitos diferenciados por tipo de serviço financeiro.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Base empírica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Capítulo 2 — Fundamentos empíricos da digitalização financeira no Brasil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Fontes, painel municipal, indicadores e fatos estilizados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Fontes de dados e o painel municipal construído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III. Base empírica (Capítulo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10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6903719" cy="2651760"/>
        </p:xfrm>
        <a:graphic>
          <a:graphicData uri="http://schemas.openxmlformats.org/drawingml/2006/table">
            <a:tbl>
              <a:tblPr firstRow="0" bandRow="0"/>
              <a:tblGrid>
                <a:gridCol w="1622374"/>
                <a:gridCol w="1139113"/>
                <a:gridCol w="414223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Fonte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Cobertura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Uso na dissertação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ESTBAN / BCB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2009–2023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Estatística bancária mensal por município e por instituição (contas COSIF)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IBGE — PIB municipal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2002–2023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Denominador dos índices locacionais; deflacionamento pelo IPCA (base 2021)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Pesquisas FEBRABAN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2009–2024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Séries nacionais de digitalização: penetração, utilização e composição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UNICAD / BCB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Classificação de porte e conglomerado das instituições financeiras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geobr (malha IBGE)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Malha municipal para construção da matriz de pesos espaciais W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RAIS e IBGE (VAB)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2009–2023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Controles reais: emprego formal, composição setorial e SIMPLES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389888"/>
            <a:ext cx="3566160" cy="86868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389888"/>
            <a:ext cx="50292" cy="86868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6" y="153619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353F56"/>
                </a:solidFill>
                <a:latin typeface="Arial"/>
                <a:cs typeface="Arial"/>
              </a:rPr>
              <a:t>5.570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municípios brasileiros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cobertura censitária, sem amostragem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395728"/>
            <a:ext cx="3566160" cy="868680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395728"/>
            <a:ext cx="50292" cy="86868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254203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693A"/>
                </a:solidFill>
                <a:latin typeface="Arial"/>
                <a:cs typeface="Arial"/>
              </a:rPr>
              <a:t>2009–2023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15 anos de painel anual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≈ 83,5 mil observações município-ano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401568"/>
            <a:ext cx="3566160" cy="86868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3401568"/>
            <a:ext cx="50292" cy="86868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3547872"/>
            <a:ext cx="320040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353F56"/>
                </a:solidFill>
                <a:latin typeface="Arial"/>
                <a:cs typeface="Arial"/>
              </a:rPr>
              <a:t>12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indicadores originais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liquidez, centralidade e qualidade do crédito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4407408"/>
            <a:ext cx="3566160" cy="1234440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4407408"/>
            <a:ext cx="50292" cy="123444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4553712"/>
            <a:ext cx="3145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Pipeline reprodutível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Toda a construção roda em R (renv + Quarto), da extração via BigQuery à renderização do documento. Código e dependências versionados e públicos.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9846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Ressalvas de cobertura: o estoque de agências de 2023 está subnotificado na base — as análises de cobertura física são truncadas em 2022.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53F56"/>
                </a:solidFill>
                <a:latin typeface="Arial"/>
                <a:cs typeface="Arial"/>
              </a:rPr>
              <a:t>Os indicadores construídos: separando volume de qualidade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111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III. Base empírica (Capítulo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11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53312"/>
            <a:ext cx="45720" cy="96926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353312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PREFERÊNCIA PELA LIQUIDEZ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6093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PLP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16093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Depósitos à vista / depósitos totais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609344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Preferência pela liquidez do público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1929384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9751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PLB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197510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Depósitos à vista / operações de crédito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75104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Preferência pela liquidez dos bancos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" y="2295144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505456"/>
            <a:ext cx="45720" cy="133502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505456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CENTRALIDADE E CONCENTRAÇÃO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7614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IRC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27614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Quociente locacional do crédito sobre o PIB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6148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Centralidade creditícia do município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" y="3081528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12724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31272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HHI das modalidades de crédito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12724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Diversidade do portfólio local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" y="3447288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49300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ICB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408" y="34930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HHI dos conglomerados bancários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49300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Estrutura concorrencial local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" y="3813048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023360"/>
            <a:ext cx="45720" cy="110515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023360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QUALIDADE E CONDIÇÕES DO CRÉDITO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79392"/>
            <a:ext cx="1234440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IRF / 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1408" y="4279392"/>
            <a:ext cx="5120640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Financiamentos de longo prazo (162) ÷ empréstimos de curto prazo (161)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279392"/>
            <a:ext cx="3794760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Proxy central de qualidade do crédito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" y="4674362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720082"/>
            <a:ext cx="12344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IRD, IRR, IRL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1408" y="4720082"/>
            <a:ext cx="51206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Quocientes locacionais de depósitos, risco e lucro bancário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720082"/>
            <a:ext cx="379476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E7688"/>
                </a:solidFill>
                <a:latin typeface="Arial"/>
                <a:cs typeface="Arial"/>
              </a:rPr>
              <a:t>Distribuição espacial de depósitos, risco e rentabilidade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" y="5101082"/>
            <a:ext cx="10692079" cy="7315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102352"/>
            <a:ext cx="10911535" cy="786384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102352"/>
            <a:ext cx="50292" cy="78638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248656"/>
            <a:ext cx="1049091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Por que a razão IRF/IRE é o indicador-chave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Valores altos indicam um portfólio voltado a operações estruturadas e relacionais; valores baixos, um crédito predominantemente curto e padronizado. É o termômetro que permite testar se a digitalização mexeu no volume ou na natureza do crédito — a pergunta que a literatura nacional ainda não havia respondido.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Fato estilizado 1 — o salto digital é recente e abrupto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III. Base empírica (Capítulo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12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transacoe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97399"/>
            <a:ext cx="6903720" cy="4438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38988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LEITURA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181508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37360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O Mobile Banking ultrapassa o Internet Banking como canal predominante em 2015–2016.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45842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2468118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O volume de transações móveis per capita dispara a partir de 2020, com a pandemia e o Pix.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3276599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3198875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 série é nacional: há variação temporal, mas nenhuma variação espacial no tratamento.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968496"/>
            <a:ext cx="3611880" cy="190195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3968496"/>
            <a:ext cx="50292" cy="190195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4114800"/>
            <a:ext cx="3191256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A restrição que define a estratégia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As Pesquisas FEBRABAN são a única fonte sistemática sobre intensidade de digitalização bancária no país — e não têm desagregação subnacional.
Sem variação espacial no tratamento, as estratégias clássicas de painel com tratamento heterogêneo ficam descartadas. É esse obstáculo que motiva o desenho shift-share.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353F56"/>
                </a:solidFill>
                <a:latin typeface="Arial"/>
                <a:cs typeface="Arial"/>
              </a:rPr>
              <a:t>Fato estilizado 2 — a geografia bancária é profundamente desigual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9843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III. Base empírica (Capítulo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13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mapa-brasi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19" y="1298448"/>
            <a:ext cx="54406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13898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MUNICÍPIOS SEM AGÊNCIA (2022)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719072"/>
          <a:ext cx="4480560" cy="1682496"/>
        </p:xfrm>
        <a:graphic>
          <a:graphicData uri="http://schemas.openxmlformats.org/drawingml/2006/table">
            <a:tbl>
              <a:tblPr firstRow="0" bandRow="0"/>
              <a:tblGrid>
                <a:gridCol w="2688336"/>
                <a:gridCol w="179222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Região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 sem agência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Nordeste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59,8%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Norte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40,7%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Sul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36,0%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Sudeste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33,6%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Brasil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43,8%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903720" y="378104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3703320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Apenas 14 municípios reuniam 100 ou mais agências; 1.660 eram atendidos por uma ou duas.</a:t>
            </a:r>
          </a:p>
        </p:txBody>
      </p:sp>
      <p:sp>
        <p:nvSpPr>
          <p:cNvPr id="14" name="Oval 13"/>
          <p:cNvSpPr/>
          <p:nvPr/>
        </p:nvSpPr>
        <p:spPr>
          <a:xfrm>
            <a:off x="6903720" y="4298695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422097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Os 10 maiores (SP, RJ, BH, POA, Curitiba, Brasília, Salvador, Campinas, Goiânia e Fortaleza) concentravam 25,8% do estoque e 54,5% do saldo de crédito.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5011166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4933442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Só 10,5% dos municípios com presença bancária tinham IRC &gt; 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5230368"/>
            <a:ext cx="4480560" cy="65836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5230368"/>
            <a:ext cx="50292" cy="65836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5376672"/>
            <a:ext cx="4059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 maior parte do território recebe menos crédito do que produz — e o excedente se acumula nos poucos nós metropolitanos onde a rede física permanece densa.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Estratégia empírica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Capítulo 3 — Identificação shift-share, datação do choque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e construção da exposição ex-ante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O desafio de identificação e a solução shift-share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IV. Estratégia empírica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15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71600"/>
            <a:ext cx="5138928" cy="117043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117043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17904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O PROBLEMA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O tratamento (intensidade da digitalização) varia no tempo, mas é idêntico para todos os municípios. Sem variação cross-section, não há grupo de controle.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371600"/>
            <a:ext cx="5138928" cy="117043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371600"/>
            <a:ext cx="50292" cy="117043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17904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A SOLUÇÃO (BORUSYAK et al., 2024)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Desenho shift-share à la Bartik: multiplica-se o shifter nacional por uma medida cross-section de exposição ex-ante. A uniformidade espacial vira vantagem analítica.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10911535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DC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71216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3F56"/>
                </a:solidFill>
                <a:latin typeface="Arial"/>
                <a:cs typeface="Arial"/>
              </a:rPr>
              <a:t>Y</a:t>
            </a:r>
            <a:r>
              <a:rPr sz="1200" b="0" i="0" baseline="-25000">
                <a:solidFill>
                  <a:srgbClr val="353F56"/>
                </a:solidFill>
                <a:latin typeface="Arial"/>
                <a:cs typeface="Arial"/>
              </a:rPr>
              <a:t>it</a:t>
            </a:r>
            <a:r>
              <a:rPr sz="1900" b="0" i="0">
                <a:solidFill>
                  <a:srgbClr val="252B3A"/>
                </a:solidFill>
                <a:latin typeface="Arial"/>
                <a:cs typeface="Arial"/>
              </a:rPr>
              <a:t>  =  α</a:t>
            </a:r>
            <a:r>
              <a:rPr sz="1200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900" b="0" i="0">
                <a:solidFill>
                  <a:srgbClr val="252B3A"/>
                </a:solidFill>
                <a:latin typeface="Arial"/>
                <a:cs typeface="Arial"/>
              </a:rPr>
              <a:t>  +  λ</a:t>
            </a:r>
            <a:r>
              <a:rPr sz="1200" b="0" i="0" baseline="-25000">
                <a:solidFill>
                  <a:srgbClr val="252B3A"/>
                </a:solidFill>
                <a:latin typeface="Arial"/>
                <a:cs typeface="Arial"/>
              </a:rPr>
              <a:t>t</a:t>
            </a:r>
            <a:r>
              <a:rPr sz="1900" b="0" i="0">
                <a:solidFill>
                  <a:srgbClr val="252B3A"/>
                </a:solidFill>
                <a:latin typeface="Arial"/>
                <a:cs typeface="Arial"/>
              </a:rPr>
              <a:t>  +  β · (Post</a:t>
            </a:r>
            <a:r>
              <a:rPr sz="1200" b="0" i="0" baseline="-25000">
                <a:solidFill>
                  <a:srgbClr val="252B3A"/>
                </a:solidFill>
                <a:latin typeface="Arial"/>
                <a:cs typeface="Arial"/>
              </a:rPr>
              <a:t>t</a:t>
            </a:r>
            <a:r>
              <a:rPr sz="1900" b="1" i="0">
                <a:solidFill>
                  <a:srgbClr val="FF693A"/>
                </a:solidFill>
                <a:latin typeface="Arial"/>
                <a:cs typeface="Arial"/>
              </a:rPr>
              <a:t> × E</a:t>
            </a:r>
            <a:r>
              <a:rPr sz="1200" b="1" i="0" baseline="-25000">
                <a:solidFill>
                  <a:srgbClr val="FF693A"/>
                </a:solidFill>
                <a:latin typeface="Arial"/>
                <a:cs typeface="Arial"/>
              </a:rPr>
              <a:t>i</a:t>
            </a:r>
            <a:r>
              <a:rPr sz="1900" b="0" i="0">
                <a:solidFill>
                  <a:srgbClr val="252B3A"/>
                </a:solidFill>
                <a:latin typeface="Arial"/>
                <a:cs typeface="Arial"/>
              </a:rPr>
              <a:t>)  +  γ X</a:t>
            </a:r>
            <a:r>
              <a:rPr sz="1200" b="0" i="0" baseline="-25000">
                <a:solidFill>
                  <a:srgbClr val="252B3A"/>
                </a:solidFill>
                <a:latin typeface="Arial"/>
                <a:cs typeface="Arial"/>
              </a:rPr>
              <a:t>it</a:t>
            </a:r>
            <a:r>
              <a:rPr sz="1900" b="0" i="0">
                <a:solidFill>
                  <a:srgbClr val="252B3A"/>
                </a:solidFill>
                <a:latin typeface="Arial"/>
                <a:cs typeface="Arial"/>
              </a:rPr>
              <a:t>  +  ε</a:t>
            </a:r>
            <a:r>
              <a:rPr sz="1200" b="0" i="0" baseline="-25000">
                <a:solidFill>
                  <a:srgbClr val="252B3A"/>
                </a:solidFill>
                <a:latin typeface="Arial"/>
                <a:cs typeface="Arial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10128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efeitos fixos de município e de ano  ·  Post = 1{t ≥ 2020}  ·  controle ln(PIB real)  ·  erros-padrão clusterizados por município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AS TRÊS CAMADAS DO CAPÍTULO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87952"/>
            <a:ext cx="10911535" cy="566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87952"/>
            <a:ext cx="45720" cy="56692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27939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QUANTITATIVA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61104"/>
            <a:ext cx="8595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Datação do choque (Bai-Perron, Quandt-Andrews, Chow) · Exposição ex-ante por ACP · Event study e DiD contínuo · SLX-DiD · Mediação causal (IKT) · Quantílica espacial (Canay)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28032"/>
            <a:ext cx="10911535" cy="566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28032"/>
            <a:ext cx="45720" cy="56692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1947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QUALITATIVA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901184"/>
            <a:ext cx="8595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Quatro estudos de caso territoriais em Minas Gerais, selecionados a partir dos resíduos e dos efeitos heterogêneos da camada quantitativa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68112"/>
            <a:ext cx="10911535" cy="566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68112"/>
            <a:ext cx="45720" cy="56692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55955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NORMATIVA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541264"/>
            <a:ext cx="8595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Tradução dos coeficientes em simulações contrafactuais e recomendações regulatórias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3 · 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Datação do choque: t* = 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IV. Estratégia empírica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16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quebra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335024"/>
            <a:ext cx="6336792" cy="452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4927" y="137160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TRÊS PROCEDIMENTOS</a:t>
            </a:r>
          </a:p>
        </p:txBody>
      </p:sp>
      <p:sp>
        <p:nvSpPr>
          <p:cNvPr id="11" name="Oval 10"/>
          <p:cNvSpPr/>
          <p:nvPr/>
        </p:nvSpPr>
        <p:spPr>
          <a:xfrm>
            <a:off x="7424927" y="1778508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70078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Bai-Perron (2003)  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— até m quebras endógenas, m* escolhido por BIC.</a:t>
            </a:r>
          </a:p>
        </p:txBody>
      </p:sp>
      <p:sp>
        <p:nvSpPr>
          <p:cNvPr id="13" name="Oval 12"/>
          <p:cNvSpPr/>
          <p:nvPr/>
        </p:nvSpPr>
        <p:spPr>
          <a:xfrm>
            <a:off x="7424927" y="2262886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218516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Quandt-Andrews (1993)  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— sup-Wald para quebra única de data desconhecida.</a:t>
            </a:r>
          </a:p>
        </p:txBody>
      </p:sp>
      <p:sp>
        <p:nvSpPr>
          <p:cNvPr id="15" name="Oval 14"/>
          <p:cNvSpPr/>
          <p:nvPr/>
        </p:nvSpPr>
        <p:spPr>
          <a:xfrm>
            <a:off x="7424927" y="274726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26695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Chow  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— datas com motivação teórica: 2015, março/2020 e novembro/2020 (Pix).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321868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RESULTADO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24927" y="3529584"/>
          <a:ext cx="3959351" cy="1115568"/>
        </p:xfrm>
        <a:graphic>
          <a:graphicData uri="http://schemas.openxmlformats.org/drawingml/2006/table">
            <a:tbl>
              <a:tblPr firstRow="0" bandRow="0"/>
              <a:tblGrid>
                <a:gridCol w="2177643"/>
                <a:gridCol w="178170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Dimensão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Quebra dominante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Penetração (MB, IB)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2020–2021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Utilização (transações)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2020–2021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Composição (% MB)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2016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424927" y="4809744"/>
            <a:ext cx="3959352" cy="969264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24927" y="4809744"/>
            <a:ext cx="50292" cy="96926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4956048"/>
            <a:ext cx="3538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Por que 2020 e não 2016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É a única data identificada simultaneamente nas dimensões de penetração e utilização, aparece como quebra dominante em 5 das 6 séries (p &lt; 0,01) e coincide com marcos institucionais conhecidos.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61888"/>
            <a:ext cx="6675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Janela adotada: 2014–2019 (pré) e 2020–2023 (pós).  Ressalva assumida: o Bai-Perron também detecta quebras em 2014–2016 e 2018–2019 — janelas de ruptura institucional.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3 · 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Construção da exposição ex-ante E</a:t>
            </a:r>
            <a:r>
              <a:rPr sz="2484" b="1" i="0" baseline="-25000">
                <a:solidFill>
                  <a:srgbClr val="353F56"/>
                </a:solidFill>
                <a:latin typeface="Arial"/>
                <a:cs typeface="Arial"/>
              </a:rPr>
              <a:t>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IV. Estratégia empírica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17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5331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CINCO VARIÁVEIS PRÉ-CHOQUE (2009–2013) → PRIMEIRA COMPONENTE PRINCIPAL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64208"/>
          <a:ext cx="5577839" cy="2322576"/>
        </p:xfrm>
        <a:graphic>
          <a:graphicData uri="http://schemas.openxmlformats.org/drawingml/2006/table">
            <a:tbl>
              <a:tblPr firstRow="0" bandRow="0"/>
              <a:tblGrid>
                <a:gridCol w="1450238"/>
                <a:gridCol w="3123590"/>
                <a:gridCol w="1004011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Variável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Leitura teórica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Loading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− ln(PIB real)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Municípios menores absorvem pior a perda de cobertura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0,64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ICB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Mercados concentrados são vulneráveis à saída de uma instituição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0,59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Densidade ag./PIB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Maior dependência da infraestrutura física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0,43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− IRC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Sistema bancário sub-representado frente ao PIB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0,17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PLP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Público menos bancarizado, menos propenso a migrar de canal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0,16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950208"/>
            <a:ext cx="2697480" cy="89611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50208"/>
            <a:ext cx="50292" cy="89611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09651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353F56"/>
                </a:solidFill>
                <a:latin typeface="Arial"/>
                <a:cs typeface="Arial"/>
              </a:rPr>
              <a:t>44,6%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da variância na PC1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todos os loadings com o mesmo sinal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3950208"/>
            <a:ext cx="2715768" cy="89611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3950208"/>
            <a:ext cx="50292" cy="89611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4096512"/>
            <a:ext cx="2350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693A"/>
                </a:solidFill>
                <a:latin typeface="Arial"/>
                <a:cs typeface="Arial"/>
              </a:rPr>
              <a:t>1.904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municípios sem cobertura prévia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34% do total — quarto braço analítico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92624"/>
            <a:ext cx="5577840" cy="91440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92624"/>
            <a:ext cx="50292" cy="9144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138928"/>
            <a:ext cx="51572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Leitura do score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E</a:t>
            </a:r>
            <a:r>
              <a:rPr sz="1150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 é um gradiente unidimensional de “vulnerabilidade à substituição digital”. Quanto maior, mais o município dependia da infraestrutura física e menos tinha como absorver o choque sem perder cobertura. Só dados pré-2014 entram, para evitar contaminação por antecipação.</a:t>
            </a:r>
          </a:p>
        </p:txBody>
      </p:sp>
      <p:pic>
        <p:nvPicPr>
          <p:cNvPr id="20" name="Picture 19" descr="fig-mapa-exposica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6958"/>
            <a:ext cx="4983480" cy="42715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5888736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Medianas: Nordeste +0,77 · Norte +0,50 · Centro-Oeste +0,04 · Sudeste −0,05 · semiárido +0,88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Resultados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Event study e DiD contínuo · Heterogeneidade por porte · Spillovers espaciais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Mediação causal · Assimetria distribucional · Robustez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EIXO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Event study: a convergência interrompida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19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eventstudy-na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29729"/>
            <a:ext cx="6675120" cy="42911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137160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TRÊS PADRÕES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778508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700784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Coeficientes pré-2020 positivos e caindo monotonicamente rumo a zero (+0,043 em k=−6 → +0,013 em k=−2).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450211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372487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Coeficientes pós-2020 estabilizam em ≈ +0,007, claramente fora da trajetória que apontava para zero.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12191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044190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O ponto de inflexão coincide exatamente com t* = 2020.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529584"/>
            <a:ext cx="3794760" cy="2340864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3529584"/>
            <a:ext cx="50292" cy="234086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3675887"/>
            <a:ext cx="3374136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A leitura correta (e a ressalva honesta)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Coeficientes pré positivos implicam que tendências paralelas estritas são rejeitadas: entre 2014 e 2019 havia convergência intermunicipal no acesso à infraestrutura física.
Depois de 2020 essa convergência cessa e o gap congela.
Logo, o coeficiente médio negativo do DiD deve ser lido como efeito contrafactual sobre a continuidade da convergência — não como redução absoluta do estoque nos municípios expostos.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TABELA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DiD com tratamento contínuo: os efeitos médios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20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11534" cy="2651760"/>
        </p:xfrm>
        <a:graphic>
          <a:graphicData uri="http://schemas.openxmlformats.org/drawingml/2006/table">
            <a:tbl>
              <a:tblPr firstRow="0" bandRow="0"/>
              <a:tblGrid>
                <a:gridCol w="3000672"/>
                <a:gridCol w="818365"/>
                <a:gridCol w="1909518"/>
                <a:gridCol w="5182979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Desfecho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Eixo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Post × Eᵢ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Leitura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ln(n. de agências + 1)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−0,016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cada d.p. de exposição associa-se a −1,6% no log do estoque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IRC — centralidade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−0,003  (p ≈ 0,40)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efeito médio indistinguível de zero — mas esconde sinais opostos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ICO — concentração do portfólio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+0,011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o portfólio de crédito local ficou mais concentrado em poucas modalidades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IRF / IRE — qualidade do crédito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iii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−0,021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queda de ≈ 2,1% por d.p.: o crédito que sobrou é mais curto e padronizado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PLP — liquidez do público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  (p &lt; 0,05)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recuo marginal nos municípios expostos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PLB — liquidez dos bancos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n.s.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sem resposta estatisticamente distinguível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11480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Painel 2014–2023 (agências truncado em 2022). Efeitos fixos de município e ano, controle ln(PIB real), erros-padrão clusterizados. *** p &lt; 0,01.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0740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OS TRÊS ACHADOS QUE SUSTENTAM O ARGUMENTO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18304"/>
            <a:ext cx="3511296" cy="1133856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718304"/>
            <a:ext cx="45720" cy="1133856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882896"/>
            <a:ext cx="3063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Menos agências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 convergência intermunicipal em cobertura física congela após 2020.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4718304"/>
            <a:ext cx="3511296" cy="1133856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718304"/>
            <a:ext cx="45720" cy="1133856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4882896"/>
            <a:ext cx="3063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Portfólio mais concentrado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Menos modalidades de crédito disponíveis localmente.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718304"/>
            <a:ext cx="3511296" cy="1133856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718304"/>
            <a:ext cx="45720" cy="1133856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882896"/>
            <a:ext cx="3063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Menos crédito longo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Queda da participação dos financiamentos frente aos empréstimos curtos.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353F56"/>
                </a:solidFill>
                <a:latin typeface="Arial"/>
                <a:cs typeface="Arial"/>
              </a:rPr>
              <a:t>Heterogeneidade por porte: o viés metropolitano é qualificado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62863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21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35024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E7688"/>
                </a:solidFill>
                <a:latin typeface="Arial"/>
                <a:cs typeface="Arial"/>
              </a:rPr>
              <a:t>Desvios em relação à faixa P4 (PIB acima de R$ 2 bilhões, referência). δp &lt; 0 indica que a faixa piorou mais que as metrópoles.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700784"/>
          <a:ext cx="10911533" cy="1810512"/>
        </p:xfrm>
        <a:graphic>
          <a:graphicData uri="http://schemas.openxmlformats.org/drawingml/2006/table">
            <a:tbl>
              <a:tblPr firstRow="0" bandRow="0"/>
              <a:tblGrid>
                <a:gridCol w="3273460"/>
                <a:gridCol w="1964076"/>
                <a:gridCol w="1745845"/>
                <a:gridCol w="1964076"/>
                <a:gridCol w="1964076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Faixa de PIB real (2009)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ln(n. agências)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IRC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IRF / IRE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ICO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P1 — até R$ 100 mi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n.s.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−2,5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P2 — R$ 100–500 mi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n.s.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−2,9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−17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+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P3 — R$ 500 mi–2 bi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+8,1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−2,7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−13 p.p.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+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P4 — acima de R$ 2 bi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675887"/>
            <a:ext cx="5349240" cy="1316736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75887"/>
            <a:ext cx="50292" cy="1316736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822191"/>
            <a:ext cx="492861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Cobertura física: efeito nas duas pontas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 retração não é monotônica na dependência física. Ela se concentra nas metrópoles (substituição ativa pela digitalização avançada) e nas pequenas (inviabilidade econômica). A faixa médio-grande preservou melhor a rede — provavelmente pelo papel de hub regional.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3675887"/>
            <a:ext cx="5340096" cy="1316736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3675887"/>
            <a:ext cx="50292" cy="1316736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22191"/>
            <a:ext cx="49194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Centralidade e qualidade: gradiente inequívoco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O IRC caiu mais nas três faixas inferiores do que nas metrópoles, e a razão IRF/IRE traz o gradiente mais pronunciado (−17 p.p. em P2). O crédito sofisticado se concentrou nas grandes cidades; às médias sobrou uma carteira dominada por empréstimos curtos.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H3 é confirmada, mas qualificada: </a:t>
            </a: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o viés metropolitano não se manifesta da mesma forma em todas as dimensões. No estoque de agências ele opera nas pontas; nas variáveis de centralidade e qualidade, opera de forma monotônica, com os centros consolidando posições relativas. A dependência de canais físicos não se traduz linearmente em perda de agências — o que decide é a função que a agência cumpre no território.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ACHADO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353F56"/>
                </a:solidFill>
                <a:latin typeface="Arial"/>
                <a:cs typeface="Arial"/>
              </a:rPr>
              <a:t>Spillovers espaciais (SLX-DiD): o território como vasos comunicantes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13333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22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35024"/>
            <a:ext cx="10911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53F56"/>
                </a:solidFill>
                <a:latin typeface="Arial"/>
                <a:cs typeface="Arial"/>
              </a:rPr>
              <a:t>Y</a:t>
            </a:r>
            <a:r>
              <a:rPr sz="1100" b="0" i="0" baseline="-25000">
                <a:solidFill>
                  <a:srgbClr val="353F56"/>
                </a:solidFill>
                <a:latin typeface="Arial"/>
                <a:cs typeface="Arial"/>
              </a:rPr>
              <a:t>it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  =  α</a:t>
            </a:r>
            <a:r>
              <a:rPr sz="1100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  +  λ</a:t>
            </a:r>
            <a:r>
              <a:rPr sz="1100" b="0" i="0" baseline="-25000">
                <a:solidFill>
                  <a:srgbClr val="252B3A"/>
                </a:solidFill>
                <a:latin typeface="Arial"/>
                <a:cs typeface="Arial"/>
              </a:rPr>
              <a:t>t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  +  β · (Post × E</a:t>
            </a:r>
            <a:r>
              <a:rPr sz="1100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)  +  </a:t>
            </a:r>
            <a:r>
              <a:rPr sz="1700" b="1" i="0">
                <a:solidFill>
                  <a:srgbClr val="FF693A"/>
                </a:solidFill>
                <a:latin typeface="Arial"/>
                <a:cs typeface="Arial"/>
              </a:rPr>
              <a:t>θ · (Post × W E</a:t>
            </a:r>
            <a:r>
              <a:rPr sz="1100" b="1" i="0" baseline="-25000">
                <a:solidFill>
                  <a:srgbClr val="FF693A"/>
                </a:solidFill>
                <a:latin typeface="Arial"/>
                <a:cs typeface="Arial"/>
              </a:rPr>
              <a:t>i</a:t>
            </a:r>
            <a:r>
              <a:rPr sz="1700" b="1" i="0">
                <a:solidFill>
                  <a:srgbClr val="FF693A"/>
                </a:solidFill>
                <a:latin typeface="Arial"/>
                <a:cs typeface="Arial"/>
              </a:rPr>
              <a:t>)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  +  γ X</a:t>
            </a:r>
            <a:r>
              <a:rPr sz="1100" b="0" i="0" baseline="-25000">
                <a:solidFill>
                  <a:srgbClr val="252B3A"/>
                </a:solidFill>
                <a:latin typeface="Arial"/>
                <a:cs typeface="Arial"/>
              </a:rPr>
              <a:t>it</a:t>
            </a: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  +  ε</a:t>
            </a:r>
            <a:r>
              <a:rPr sz="1100" b="0" i="0" baseline="-25000">
                <a:solidFill>
                  <a:srgbClr val="252B3A"/>
                </a:solidFill>
                <a:latin typeface="Arial"/>
                <a:cs typeface="Arial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W = contiguidade rainha, row-normalizada (malha IBGE 2020 via geobr; 5.568 municípios em subgrafo único)  ·  β = efeito direto, θ = spillover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103120"/>
          <a:ext cx="10911532" cy="1883664"/>
        </p:xfrm>
        <a:graphic>
          <a:graphicData uri="http://schemas.openxmlformats.org/drawingml/2006/table">
            <a:tbl>
              <a:tblPr firstRow="0" bandRow="0"/>
              <a:tblGrid>
                <a:gridCol w="2564210"/>
                <a:gridCol w="2018633"/>
                <a:gridCol w="1745845"/>
                <a:gridCol w="4582844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Desfecho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Efeito direto (β)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Spillover (θ)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Interpretação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ln(n. de agências)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−2,2%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+2,7%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o município perde a agência; a vizinhança a ganha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IRC — centralidade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negativo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positivo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 centralidade migra para os polos adjacentes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ICO — concentração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positivo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negativo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o portfólio local se estreita; o dos vizinhos se diversifica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IRF / IRE — qualidade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fortemente negativo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positivo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o crédito longo sai da periferia e reaparece no entorno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4187952"/>
            <a:ext cx="5349240" cy="129844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87952"/>
            <a:ext cx="50292" cy="12984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334256"/>
            <a:ext cx="4928616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Nos quatro desfechos, efeito direto e spillover têm sinais opostos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 digitalização não eliminou agências, centralidade, diversidade ou crédito longo do território. Ela os reorganizou no espaço, transferindo-os dos municípios mais vulneráveis para suas vizinhanças mais centrais.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4187952"/>
            <a:ext cx="5340096" cy="129844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4187952"/>
            <a:ext cx="50292" cy="129844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34256"/>
            <a:ext cx="4919472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Por que isso explica o “zero” do IRC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|θ| é da mesma ordem de |β|, às vezes maior. O coeficiente médio do DiD não espacial é uma mistura de efeitos diretos e indiretos de sinais opostos: parte do efeito direto negativo era cancelada por um spillover positivo.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Evidência mais robusta da dissertação: </a:t>
            </a:r>
            <a:r>
              <a:rPr sz="1400" b="0" i="0">
                <a:solidFill>
                  <a:srgbClr val="252B3A"/>
                </a:solidFill>
                <a:latin typeface="Arial"/>
                <a:cs typeface="Arial"/>
              </a:rPr>
              <a:t>o viés metropolitano não é apenas declínio diferenciado entre faixas — é uma transferência territorial identificável, das próprias periferias para os polos adjacentes.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H5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Mediação causal: por onde o efeito viaja?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23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1673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E7688"/>
                </a:solidFill>
                <a:latin typeface="Arial"/>
                <a:cs typeface="Arial"/>
              </a:rPr>
              <a:t>Arcabouço de Imai, Keele &amp; Tingley (2010) adaptado a painel com efeitos fixos  ·  3.636 municípios, 29.970 observações, 2014–2022  ·  bootstrap de blocos (B = 500)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2423160" cy="84124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45720" cy="8412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414015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TRATAMENTO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Post × E</a:t>
            </a:r>
            <a:r>
              <a:rPr sz="1380" b="1" i="0" baseline="-25000">
                <a:solidFill>
                  <a:srgbClr val="353F56"/>
                </a:solidFill>
                <a:latin typeface="Arial"/>
                <a:cs typeface="Arial"/>
              </a:rPr>
              <a:t>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exposição ao choque digital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2423160" cy="84124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37360"/>
            <a:ext cx="45720" cy="84124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47088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MEDIADORA (M)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ln(n. agências + 1)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estoque físico municipal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2304288"/>
            <a:ext cx="2916936" cy="84124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1936" y="2304288"/>
            <a:ext cx="45720" cy="8412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2414015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DESFECHO (Y)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IRF / IRE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qualidade do crédito local</a:t>
            </a:r>
          </a:p>
        </p:txBody>
      </p:sp>
      <p:sp>
        <p:nvSpPr>
          <p:cNvPr id="19" name="Right Arrow 18"/>
          <p:cNvSpPr/>
          <p:nvPr/>
        </p:nvSpPr>
        <p:spPr>
          <a:xfrm rot="20280000">
            <a:off x="3154680" y="2395728"/>
            <a:ext cx="1051560" cy="182880"/>
          </a:xfrm>
          <a:prstGeom prst="rightArrow">
            <a:avLst/>
          </a:prstGeom>
          <a:solidFill>
            <a:srgbClr val="C3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 rot="1320000">
            <a:off x="6876288" y="2395728"/>
            <a:ext cx="1600200" cy="182880"/>
          </a:xfrm>
          <a:prstGeom prst="rightArrow">
            <a:avLst/>
          </a:prstGeom>
          <a:solidFill>
            <a:srgbClr val="C3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154680" y="3310128"/>
            <a:ext cx="5321808" cy="201168"/>
          </a:xfrm>
          <a:prstGeom prst="rightArrow">
            <a:avLst/>
          </a:prstGeom>
          <a:solidFill>
            <a:srgbClr val="C3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2066543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δ = +0,0200 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66543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ψ = +0,2346 ***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478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93A"/>
                </a:solidFill>
                <a:latin typeface="Arial"/>
                <a:cs typeface="Arial"/>
              </a:rPr>
              <a:t>ADE  φ = −0,0105 **   (canal direto, tecnológico)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4169663"/>
          <a:ext cx="6053326" cy="1463040"/>
        </p:xfrm>
        <a:graphic>
          <a:graphicData uri="http://schemas.openxmlformats.org/drawingml/2006/table">
            <a:tbl>
              <a:tblPr firstRow="0" bandRow="0"/>
              <a:tblGrid>
                <a:gridCol w="2421331"/>
                <a:gridCol w="1210665"/>
                <a:gridCol w="1452798"/>
                <a:gridCol w="96853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Estimativa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IC 95% (bootstrap)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Sinal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ACME — efeito mediado (δ × ψ)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+0,0047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[+0,003 ; +0,006]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positivo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ADE — efeito direto (φ)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−0,0105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significativo a 5%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negativo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τ — efeito total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−0,0058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[−0,015 ; +0,003]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atenuado, inclui zero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903720" y="4169663"/>
            <a:ext cx="4645152" cy="171907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4169663"/>
            <a:ext cx="50292" cy="171907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1464" y="4315968"/>
            <a:ext cx="4224528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Suppression effect: H5 precisa ser reformulada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B3A"/>
                </a:solidFill>
                <a:latin typeface="Arial"/>
                <a:cs typeface="Arial"/>
              </a:rPr>
              <a:t>Os dois canais empurram o IRF/IRE em direções opostas e quase se cancelam — a mediação inconsistente de MacKinnon et al. (2007).
A relação estrutural agência → crédito longo se confirma (ψ &gt; 0), mas nesta subamostra o canal dominante é o tecnológico. H5 vale para as periferias mais frágeis — justamente as que a restrição amostral exclui.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QUANTÍLICA ESPACIAL (CANAY, 2011)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Assimetria distribucional: o que a média esconde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24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quantilic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4008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138928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E7688"/>
                </a:solidFill>
                <a:latin typeface="Arial"/>
                <a:cs typeface="Arial"/>
              </a:rPr>
              <a:t>Estimador em duas etapas de Canay (2011); IC 95% por bootstrap de blocos por município (B = 200).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38988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53F56"/>
                </a:solidFill>
                <a:latin typeface="Arial"/>
                <a:cs typeface="Arial"/>
              </a:rPr>
              <a:t>IRC — EROSÃO CONCENTRADA NO TOPO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OLS-FE médio: −0,003 (p ≈ 0,40). Os quantis 0,10 a 0,75 ficam próximos de zero; só em τ = 0,90 aparece coeficiente claramente negativo (−0,007; IC [−0,012; −0,001]).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15184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E7688"/>
                </a:solidFill>
                <a:latin typeface="Arial"/>
                <a:cs typeface="Arial"/>
              </a:rPr>
              <a:t>A digitalização não mexeu no nível de centralidade da maioria — erodiu, na margem, a posição relativa de quem já estava no topo.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310128"/>
            <a:ext cx="3886200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45643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IRF/IRE — PERFIL EM U ASSIMÉTRICO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79" y="3767328"/>
          <a:ext cx="1874518" cy="1865376"/>
        </p:xfrm>
        <a:graphic>
          <a:graphicData uri="http://schemas.openxmlformats.org/drawingml/2006/table">
            <a:tbl>
              <a:tblPr firstRow="0" bandRow="0"/>
              <a:tblGrid>
                <a:gridCol w="787297"/>
                <a:gridCol w="1087221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τ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Coeficiente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0,10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−0,023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0,25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−0,016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0,50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−0,009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0,75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−0,002  n.s.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0,90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−0,012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OLS-FE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−0,022 ***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555480" y="3803904"/>
            <a:ext cx="1828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Onde o crédito longo já era escasso, a digitalização aprofundou a escassez.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Mesmo o topo perdeu: a distribuição foi achatada em direção à mediana.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E7688"/>
                </a:solidFill>
                <a:latin typeface="Arial"/>
                <a:cs typeface="Arial"/>
              </a:rPr>
              <a:t>Só o 3º quartil escapou — hipótese institucional: cooperativas e bancos públicos.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RESULTADOS ·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Robustez: o que resiste e o que exige cautela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V. Resultados (Capítulo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25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11532" cy="2615184"/>
        </p:xfrm>
        <a:graphic>
          <a:graphicData uri="http://schemas.openxmlformats.org/drawingml/2006/table">
            <a:tbl>
              <a:tblPr firstRow="0" bandRow="0"/>
              <a:tblGrid>
                <a:gridCol w="2073191"/>
                <a:gridCol w="3055229"/>
                <a:gridCol w="4091825"/>
                <a:gridCol w="1691287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Exercício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Procedimento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Veredito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Controles reais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Composição setorial do VAB, ln(vínculos RAIS) e share SIMPLES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Sinal, magnitude e significância mantidos; variação típica &lt; 10%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Placebo (t falso = 2014)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Janela 2009–2018, anterior ao choque real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IRF/IRE: −0,0017 n.s. vs. −0,021 real (&gt;10×). ICO e agências: razão ≈ 4×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DiD sintético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Tercil superior vs. inferior de Eᵢ (Arkhangelsky et al., 2021)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Sinais divergem em IRF/IRE, ICO, agências e IRC na comparação binária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Cautela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Matrizes W alternativas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k = 5 vizinhos mais próximos e distância inversa (corte 200 km)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Spillovers de magnitude comparável aos diretos persistem; sinal pontual varia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041648"/>
            <a:ext cx="5349240" cy="120700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41648"/>
            <a:ext cx="50292" cy="120700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87952"/>
            <a:ext cx="492861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93A"/>
                </a:solidFill>
                <a:latin typeface="Arial"/>
                <a:cs typeface="Arial"/>
              </a:rPr>
              <a:t>A ressalva que assumo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O DiD sintético exige binarização e corrige tendências pré via pesos sintéticos. O tercil inferior de E</a:t>
            </a:r>
            <a:r>
              <a:rPr sz="1104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 concentra as metrópoles — que também perderam agências. O estimador acaba comparando perda na periferia contra perda no centro, e a magnitude relativa pode inverter o sinal.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4041648"/>
            <a:ext cx="5340096" cy="120700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4041648"/>
            <a:ext cx="50292" cy="120700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87952"/>
            <a:ext cx="491947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O que fica de pé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O cerne da inferência é o gradiente contínuo do DiD, complementado pelos achados espaciais e de heterogeneidade. Estimadores que exigem binarização ou correção sintética entram como apoio, não como substitutos. O sentido dos achados se mantém; a magnitude média em subamostras balanceadas é sensível ao estimador.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Estudos de caso territoriais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Minas Gerais — Belo Horizonte, Juiz de Fora, Betim e Almenara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O que o coeficiente médio esconde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CAPÍTULO 3 · CAMADA QUALITATIVA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Os quatro casos no território mineiro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VI. Estudos de caso territoriais (Minas Gerais)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27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mapa-m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42" y="1298448"/>
            <a:ext cx="5998275" cy="461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CRITÉRIO DE SELEÇÃO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8249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Quatro níveis distintos de centralidade financeira, percorrendo o eixo centro–periferia que organiza a leitura pós-keynesiana. Mesmo estado: banco de fomento (BDMG), fontes auxiliares e regulação estadual constantes.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688336"/>
            <a:ext cx="2212848" cy="1060704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688336"/>
            <a:ext cx="50292" cy="106070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2834640"/>
            <a:ext cx="1847088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693A"/>
                </a:solidFill>
                <a:latin typeface="Arial"/>
                <a:cs typeface="Arial"/>
              </a:rPr>
              <a:t>49,1%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53F56"/>
                </a:solidFill>
                <a:latin typeface="Arial"/>
                <a:cs typeface="Arial"/>
              </a:rPr>
              <a:t>dos municípios de MG
sem agência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419 de 853, em 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1432" y="2688336"/>
            <a:ext cx="2212848" cy="1060704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71432" y="2688336"/>
            <a:ext cx="50292" cy="106070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834640"/>
            <a:ext cx="1847088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53F56"/>
                </a:solidFill>
                <a:latin typeface="Arial"/>
                <a:cs typeface="Arial"/>
              </a:rPr>
              <a:t>0,076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53F56"/>
                </a:solidFill>
                <a:latin typeface="Arial"/>
                <a:cs typeface="Arial"/>
              </a:rPr>
              <a:t>mediana estadual
de IRF/IRE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abaixo da mediana nacional (0,102)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3913632"/>
            <a:ext cx="4572000" cy="1956816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3913632"/>
            <a:ext cx="50292" cy="1956816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4059936"/>
            <a:ext cx="4151376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Estrutura de cada caso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1.  Caracterização do município e posição no score E</a:t>
            </a:r>
            <a:r>
              <a:rPr sz="1150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
2.  Trajetória 2009–2023 dos indicadores municipais
3.  Confronto entre o previsto pelo modelo e o observado
4.  Leitura do contexto institucional local
Mesmo em um estado com banco de fomento próprio, o financiamento de longo prazo responde por parcela pequena do crédito local.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ESTUDOS DE CASO · 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 i="0">
                <a:solidFill>
                  <a:srgbClr val="353F56"/>
                </a:solidFill>
                <a:latin typeface="Arial"/>
                <a:cs typeface="Arial"/>
              </a:rPr>
              <a:t>O gradiente dos quatro casos: mesma média, trajetórias opostas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46352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VI. Estudos de caso territoriais (Minas Gerais)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28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53312"/>
            <a:ext cx="2624328" cy="396849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53312"/>
            <a:ext cx="2624328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1790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Belo Horizonte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82880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Metrópole consolidada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4086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93A"/>
                </a:solidFill>
                <a:latin typeface="Arial"/>
                <a:cs typeface="Arial"/>
              </a:rPr>
              <a:t>314 agências (2022)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7004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Agências 2014–22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852928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−33%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14553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28416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7A6B"/>
                </a:solidFill>
                <a:latin typeface="Arial"/>
                <a:cs typeface="Arial"/>
              </a:rPr>
              <a:t>1,79 → 2,62  (+47%)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2102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IRF/IRE 2015→2022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80390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1,28 → 0,52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4169663"/>
            <a:ext cx="2212848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297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Perde rede física, mas ganha centralidade relativa porque o entorno perde mais.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1353312"/>
            <a:ext cx="2624328" cy="396849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1568" y="1353312"/>
            <a:ext cx="2624328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151790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Juiz de Fora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182880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Cidade média de centralidade regional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234086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93A"/>
                </a:solidFill>
                <a:latin typeface="Arial"/>
                <a:cs typeface="Arial"/>
              </a:rPr>
              <a:t>46 agências (2022)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267004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Agências 2014–22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2852928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7A6B"/>
                </a:solidFill>
                <a:latin typeface="Arial"/>
                <a:cs typeface="Arial"/>
              </a:rPr>
              <a:t>−21%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314553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3328416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7A6B"/>
                </a:solidFill>
                <a:latin typeface="Arial"/>
                <a:cs typeface="Arial"/>
              </a:rPr>
              <a:t>0,76 (estável)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362102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IRF/IRE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380390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B3A"/>
                </a:solidFill>
                <a:latin typeface="Arial"/>
                <a:cs typeface="Arial"/>
              </a:rPr>
              <a:t>0,24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21024" y="4169663"/>
            <a:ext cx="2212848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4297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Âncoras institucionais (UFJF, base de serviços) sustentam a função bancária local.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1353312"/>
            <a:ext cx="2624328" cy="396849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3056" y="1353312"/>
            <a:ext cx="2624328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51790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Betim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182880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Polo industrial, periferia financeira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34086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93A"/>
                </a:solidFill>
                <a:latin typeface="Arial"/>
                <a:cs typeface="Arial"/>
              </a:rPr>
              <a:t>16 agências (2022)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67004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Agências 2014–22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852928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−36%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14553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328416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−70%  →  0,12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62102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IRF/IRE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380390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B3A"/>
                </a:solidFill>
                <a:latin typeface="Arial"/>
                <a:cs typeface="Arial"/>
              </a:rPr>
              <a:t>0,19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4169663"/>
            <a:ext cx="2212848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4297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PIB acima de R$ 20 bi e acesso digital pleno não impediram a perda: falta base financeira própria.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24544" y="1353312"/>
            <a:ext cx="2624328" cy="396849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24544" y="1353312"/>
            <a:ext cx="2624328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1517904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53F56"/>
                </a:solidFill>
                <a:latin typeface="Arial"/>
                <a:cs typeface="Arial"/>
              </a:rPr>
              <a:t>Almenara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182880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E7688"/>
                </a:solidFill>
                <a:latin typeface="Arial"/>
                <a:cs typeface="Arial"/>
              </a:rPr>
              <a:t>Polo microrregional do Baixo Jequitinhonha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34086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93A"/>
                </a:solidFill>
                <a:latin typeface="Arial"/>
                <a:cs typeface="Arial"/>
              </a:rPr>
              <a:t>5 agências (2022)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67004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Agências 2014–22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2852928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7A6B"/>
                </a:solidFill>
                <a:latin typeface="Arial"/>
                <a:cs typeface="Arial"/>
              </a:rPr>
              <a:t>0%  (nenhuma fechou)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314553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3328416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7A6B"/>
                </a:solidFill>
                <a:latin typeface="Arial"/>
                <a:cs typeface="Arial"/>
              </a:rPr>
              <a:t>1,10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362102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IRF/IRE 2014–22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380390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−43%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4169663"/>
            <a:ext cx="2212848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4297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Bancos públicos preservam a rede, mas não impedem a deterioração do crédito longo.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449824"/>
            <a:ext cx="10911535" cy="566928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" y="5449824"/>
            <a:ext cx="50292" cy="56692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5596128"/>
            <a:ext cx="104909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O mesmo β da regressão agrega municípios cuja função financeira é completamente diferente. Uma recomendação de política baseada na média agregada falharia em três dos quatro territórios estudados.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ESTUDOS DE CASO · SÍNTESE 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O plano centralidade × qualidade do crédito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VI. Estudos de caso territoriais (Minas Gerais)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29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quadrante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64" y="1298448"/>
            <a:ext cx="5218230" cy="461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DUAS LEITURAS APRESSADAS QUE CAEM POR TERRA</a:t>
            </a:r>
          </a:p>
        </p:txBody>
      </p:sp>
      <p:sp>
        <p:nvSpPr>
          <p:cNvPr id="11" name="Oval 10"/>
          <p:cNvSpPr/>
          <p:nvPr/>
        </p:nvSpPr>
        <p:spPr>
          <a:xfrm>
            <a:off x="6812280" y="1796795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719072"/>
            <a:ext cx="4315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O quadrante desejável não é metropolitano.  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As três melhores posições são de Tangará da Serra (MT), Querência (MT) e Chapadão do Sul (MS): o crédito rural direcionado eleva simultaneamente financiamento e participação no crédito nacional. O Centro-Oeste é 8,9% da amostra e 19,6% do quadrante I.</a:t>
            </a:r>
          </a:p>
        </p:txBody>
      </p:sp>
      <p:sp>
        <p:nvSpPr>
          <p:cNvPr id="13" name="Oval 12"/>
          <p:cNvSpPr/>
          <p:nvPr/>
        </p:nvSpPr>
        <p:spPr>
          <a:xfrm>
            <a:off x="6812280" y="3048762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2971038"/>
            <a:ext cx="4315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Cobertura física ≠ função financeira.  </a:t>
            </a: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Almenara, com 5 agências no Jequitinhonha, ocupa posição melhor no plano do que Betim, com 16 agências na RMBH. Betim é o único dos quatro casos fora do quadrante 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4005072"/>
            <a:ext cx="2212848" cy="98755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4005072"/>
            <a:ext cx="50292" cy="98755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1736" y="4151376"/>
            <a:ext cx="18470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693A"/>
                </a:solidFill>
                <a:latin typeface="Arial"/>
                <a:cs typeface="Arial"/>
              </a:rPr>
              <a:t>323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53F56"/>
                </a:solidFill>
                <a:latin typeface="Arial"/>
                <a:cs typeface="Arial"/>
              </a:rPr>
              <a:t>municípios com IRF = 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sem razão a calcular:
exclusão qualitativa extrema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71432" y="4005072"/>
            <a:ext cx="2212848" cy="987552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71432" y="4005072"/>
            <a:ext cx="50292" cy="987552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4151376"/>
            <a:ext cx="18470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53F56"/>
                </a:solidFill>
                <a:latin typeface="Arial"/>
                <a:cs typeface="Arial"/>
              </a:rPr>
              <a:t>67%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53F56"/>
                </a:solidFill>
                <a:latin typeface="Arial"/>
                <a:cs typeface="Arial"/>
              </a:rPr>
              <a:t>dos municípios de MG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nos quadrantes II e III,
abaixo da mediana nacional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5102352"/>
            <a:ext cx="4572000" cy="786384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5102352"/>
            <a:ext cx="50292" cy="786384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5248656"/>
            <a:ext cx="41513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53F56"/>
                </a:solidFill>
                <a:latin typeface="Arial"/>
                <a:cs typeface="Arial"/>
              </a:rPr>
              <a:t>O avesso: São Francisco do Conde (BA)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Sede de refinaria e um dos maiores PIB per capita do país, ocupa a pior posição do plano — produz muito e retém quase nada de crédito. É a drenagem financeira de Crocco et al. (2006) em estado quase puro.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Implicações e conclusões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Simulações contrafactuais e implicações regulatórias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Balanço das hipóteses, contribuições e limitações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CAMADA NORMATIVA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Três simulações contrafactuais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VII. Implicações e 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31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53312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53312"/>
            <a:ext cx="45720" cy="148132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48132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CENÁRIO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71907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Redução de 50% no fechamento de agências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677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7688"/>
                </a:solidFill>
                <a:latin typeface="Arial"/>
                <a:cs typeface="Arial"/>
              </a:rPr>
              <a:t>E se o fechamento nos municípios mais expostos tivesse caído pela metade após 2020?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499616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Um município com E</a:t>
            </a:r>
            <a:r>
              <a:rPr sz="1104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 = +1 perderia 0,8% em vez de 1,6% do log do estoque. É alívio, não reversão. E o SLX acrescenta: o fechamento não é só perda líquida, é realocação — a agência fecha em um lugar e reabre alguns quilômetros adiante.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0848" y="1499616"/>
            <a:ext cx="10972" cy="1188720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499616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Reduzir o fechamento na origem frearia a concentração espacial induzida por essa realocação.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26080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45720" cy="148132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5409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CENÁRIO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2918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Homogeneização da exposição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7688"/>
                </a:solidFill>
                <a:latin typeface="Arial"/>
                <a:cs typeface="Arial"/>
              </a:rPr>
              <a:t>Se todos os municípios tivessem, em 2014, a infraestrutura digital de uma metrópole?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072384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Reduziria a vulnerabilidade, mas não eliminaria o problema. O que determina a resiliência da cobertura não é só conectividade — é a densidade do mercado bancário local. Betim tinha acesso digital pleno e perdeu 36% das agências; Juiz de Fora, metade do PIB, perdeu 21%.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3072384"/>
            <a:ext cx="10972" cy="1188720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3072384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Inclusão digital sozinha não resolve exclusão financeira territorial.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98848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498848"/>
            <a:ext cx="45720" cy="148132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62686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FF693A"/>
                </a:solidFill>
                <a:latin typeface="Arial"/>
                <a:cs typeface="Arial"/>
              </a:rPr>
              <a:t>CENÁRIO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8646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53F56"/>
                </a:solidFill>
                <a:latin typeface="Arial"/>
                <a:cs typeface="Arial"/>
              </a:rPr>
              <a:t>Piso de uma agência por município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4132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7688"/>
                </a:solidFill>
                <a:latin typeface="Arial"/>
                <a:cs typeface="Arial"/>
              </a:rPr>
              <a:t>Se todo município com ao menos uma agência em 2019 a mantivesse até 2023?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4645152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A mediação responde pela negativa: o suppression effect mostra que a digitalização reduz o IRF/IRE por um canal que não passa pela quantidade de agências. Almenara é o caso-limite — 5 agências mantidas e queda de 43% na razão.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0848" y="4645152"/>
            <a:ext cx="10972" cy="1188720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4645152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3F56"/>
                </a:solidFill>
                <a:latin typeface="Arial"/>
                <a:cs typeface="Arial"/>
              </a:rPr>
              <a:t>O que muda não é a presença da agência, é o que a agência faz.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CAMADA NORMATIVA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Implicações regulatórias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VII. Implicações e 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32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71600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45720" cy="148132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3619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693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Migrar a regulação de quantidade de agências para funções financeiras mantidas no território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938528"/>
            <a:ext cx="9646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Manter a agência não garante manter o crédito de longo prazo. O fechamento pode ser compensado por correspondentes e canais digitais assistidos — desde que tenham escopo funcional equivalente. Os modelos de service obligation dos setores postal e de telecomunicações são referência adaptável, calibrada por tempo de deslocamento e vulnerabilidade (E</a:t>
            </a:r>
            <a:r>
              <a:rPr sz="1104" b="0" i="0" baseline="-25000">
                <a:solidFill>
                  <a:srgbClr val="252B3A"/>
                </a:solidFill>
                <a:latin typeface="Arial"/>
                <a:cs typeface="Arial"/>
              </a:rPr>
              <a:t>i</a:t>
            </a: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), não por quilômetros em linha reta.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44368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44368"/>
            <a:ext cx="45720" cy="148132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0896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693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90672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Calibrar os instrumentos de crédito conforme a heterogeneidade espacial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11296"/>
            <a:ext cx="9646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O SLX mostra que o crédito se desloca no espaço; a quantílica mostra que o efeito depende do ponto de partida de cada município na distribuição. Uma política uniforme produz resultados distintos em Almenara (bancos públicos sustentam a função) e em Betim (crédito privado curto, função financeira rasa). Instrumentos possíveis: percentual mínimo de carteira em modalidades longas para municípios abaixo de certo porte e redesconto condicionado à manutenção de operações de financiamento em regiões periféricas.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17136"/>
            <a:ext cx="10911535" cy="14813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17136"/>
            <a:ext cx="45720" cy="1481328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81727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693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6344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Coordenar regulação bancária, infraestrutura digital e desenvolvimento 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84064"/>
            <a:ext cx="9646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2B3A"/>
                </a:solidFill>
                <a:latin typeface="Arial"/>
                <a:cs typeface="Arial"/>
              </a:rPr>
              <a:t>A dissertação mostrou que conectividade digital não substitui presença institucional (Betim) e que presença institucional não impede a deterioração do crédito (Almenara). O problema é estrutural: exige que Banco Central, BNDES e bancos estaduais, ANATEL e o Ministério da Integração atuem de forma articulada, e não em trilhos separados.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Balanço das cinco hipóteses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VII. Implicações e 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33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11533" cy="3621024"/>
        </p:xfrm>
        <a:graphic>
          <a:graphicData uri="http://schemas.openxmlformats.org/drawingml/2006/table">
            <a:tbl>
              <a:tblPr firstRow="0" bandRow="0"/>
              <a:tblGrid>
                <a:gridCol w="545576"/>
                <a:gridCol w="2673326"/>
                <a:gridCol w="5946786"/>
                <a:gridCol w="1745845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 que a hipótese previa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 que a evidência mostrou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Veredito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H1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Quebra estrutural identificável entre 2015 e 2020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2020 confirmado como inflexão dominante. O choque não é um ponto único: é uma sequência de rupturas (2014–16, 2018–19, 2020–21)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H2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Efeito maior onde havia alta dependência de canais físicos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Direção confirmada, forma desmentida: a contração é não monotônica, concentrada nas duas pontas da distribuição de porte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Reformulada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H3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 digitalização aprofunda o viés metropolitano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 mais fortalecida. Não é só declínio diferenciado: é transferência territorial identificável (efeito direto e spillover com sinais opostos)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Sustentada +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H4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Efeito assimétrico sobre a qualidade do crédito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Confirmada. Efeito médio nulo sobre centralidade, mas o crédito longo se concentra nos centros e recua nas periferias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1F7A6B"/>
                          </a:solidFill>
                          <a:latin typeface="Arial"/>
                          <a:cs typeface="Arial"/>
                        </a:rPr>
                        <a:t>Sustentada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H5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O canal de transmissão é o fechamento de agências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Suppression effect. O elo agência → crédito longo se confirma, mas o canal dominante é o tecnológico. Vale só para as periferias mais frágeis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693A"/>
                          </a:solidFill>
                          <a:latin typeface="Arial"/>
                          <a:cs typeface="Arial"/>
                        </a:rPr>
                        <a:t>Reformulada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138928"/>
            <a:ext cx="10911535" cy="896112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138928"/>
            <a:ext cx="50292" cy="896112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285232"/>
            <a:ext cx="1049091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693A"/>
                </a:solidFill>
                <a:latin typeface="Arial"/>
                <a:cs typeface="Arial"/>
              </a:rPr>
              <a:t>A tese que as cinco convergem para sustentar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A digitalização financeira não é territorialmente neutra. O aprendizado da pesquisa, porém, está menos no fato de quatro hipóteses terem se sustentado e mais nos pontos em que a evidência obrigou a abandonar a linearidade: o fechamento não segue a dependência física ponto a ponto, a deterioração do crédito não vem de um canal só, e o empobrecimento das periferias não é subtração pura — o que sai delas reaparece nos centros.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Contribuições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VII. Implicações e 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34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53312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QUATRO CONTRIBUIÇÕES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760220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82496"/>
            <a:ext cx="5093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Base de dados.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Painel de indicadores financeiros municipais 2009–2023, integrando fontes antes usadas separadamente.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77872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200148"/>
            <a:ext cx="5093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Analítica.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Decomposição do efeito em canal direto, canal mediado e spillovers espaciais, combinada à decomposição quantílica.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9552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17800"/>
            <a:ext cx="5093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Empírica.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 digitalização não é territorialmente neutra: seus efeitos variam com porte, posição na hierarquia urbana e base institucional.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13176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35452"/>
            <a:ext cx="5093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Aplicada.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Mapeamento entre coeficientes estimados e instrumentos de política — subsídios regulatórios ancorados em resultados quantificados.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35331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3F56"/>
                </a:solidFill>
                <a:latin typeface="Arial"/>
                <a:cs typeface="Arial"/>
              </a:rPr>
              <a:t>QUATRO LIMITAÇÕES ASSUMIDAS</a:t>
            </a:r>
          </a:p>
        </p:txBody>
      </p:sp>
      <p:sp>
        <p:nvSpPr>
          <p:cNvPr id="19" name="Oval 18"/>
          <p:cNvSpPr/>
          <p:nvPr/>
        </p:nvSpPr>
        <p:spPr>
          <a:xfrm>
            <a:off x="6208776" y="1760220"/>
            <a:ext cx="77724" cy="77724"/>
          </a:xfrm>
          <a:prstGeom prst="ellipse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682496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Dados.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 série FEBRABAN é nacional. Não há dados municipais de juros, prazos ou inadimplência. A ESTBAN registra saldos, não operações novas — a direção da causalidade na margem de crédito permanece ambígua.</a:t>
            </a:r>
          </a:p>
        </p:txBody>
      </p:sp>
      <p:sp>
        <p:nvSpPr>
          <p:cNvPr id="21" name="Oval 20"/>
          <p:cNvSpPr/>
          <p:nvPr/>
        </p:nvSpPr>
        <p:spPr>
          <a:xfrm>
            <a:off x="6208776" y="2667508"/>
            <a:ext cx="77724" cy="77724"/>
          </a:xfrm>
          <a:prstGeom prst="ellipse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589784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Identificação temporal.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Quebras em 2014–16 e 2018–19 coincidem com rupturas institucionais (Lei das Estatais, Lei da Liberdade Econômica, Agenda BC#). Uma data única de tratamento não separa esses componentes.</a:t>
            </a:r>
          </a:p>
        </p:txBody>
      </p:sp>
      <p:sp>
        <p:nvSpPr>
          <p:cNvPr id="23" name="Oval 22"/>
          <p:cNvSpPr/>
          <p:nvPr/>
        </p:nvSpPr>
        <p:spPr>
          <a:xfrm>
            <a:off x="6208776" y="3574796"/>
            <a:ext cx="77724" cy="77724"/>
          </a:xfrm>
          <a:prstGeom prst="ellipse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497072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Unidade espacial.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A função financeira transborda o limite municipal: Almenara é polo de seis municípios sem agência; Betim integra o mercado metropolitano de BH.</a:t>
            </a:r>
          </a:p>
        </p:txBody>
      </p:sp>
      <p:sp>
        <p:nvSpPr>
          <p:cNvPr id="25" name="Oval 24"/>
          <p:cNvSpPr/>
          <p:nvPr/>
        </p:nvSpPr>
        <p:spPr>
          <a:xfrm>
            <a:off x="6208776" y="4287266"/>
            <a:ext cx="77724" cy="77724"/>
          </a:xfrm>
          <a:prstGeom prst="ellipse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209542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3F56"/>
                </a:solidFill>
                <a:latin typeface="Arial"/>
                <a:cs typeface="Arial"/>
              </a:rPr>
              <a:t>Interpretação qualitativa.  </a:t>
            </a:r>
            <a:r>
              <a:rPr sz="1300" b="0" i="0">
                <a:solidFill>
                  <a:srgbClr val="252B3A"/>
                </a:solidFill>
                <a:latin typeface="Arial"/>
                <a:cs typeface="Arial"/>
              </a:rPr>
              <a:t>O contexto institucional dos casos se apoia em fontes secundárias e foi marcado como hipotético ao longo do texto.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10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693A"/>
                </a:solidFill>
                <a:latin typeface="Arial"/>
                <a:cs typeface="Arial"/>
              </a:rPr>
              <a:t>AGENDA DE PESQUISA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Incorporar dados desagregados do SCR/BCB para testar diretamente a mudança de composição da carteira  ·  mudar a escala para microrregiões ou regiões funcionais  ·  investigar os mecanismos institucionais com métodos qualitativos  ·  separar o choque digital das rupturas institucionais contemporâneas com desenhos que explorem variação exógena subnacional na adoção de tecnologia.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981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VII. Implicações e considerações finais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35</a:t>
            </a:r>
          </a:p>
        </p:txBody>
      </p:sp>
      <p:pic>
        <p:nvPicPr>
          <p:cNvPr id="7" name="Picture 6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1371600"/>
            <a:ext cx="10911535" cy="1572768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4864" cy="157276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572768"/>
            <a:ext cx="10088575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353F56"/>
                </a:solidFill>
                <a:latin typeface="Arial"/>
                <a:cs typeface="Arial"/>
              </a:rPr>
              <a:t>Moeda e crédito não são variáveis exógenas ao desenvolvimento regional. São forças que estruturam a geografia das oportunidades.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2B3A"/>
                </a:solidFill>
                <a:latin typeface="Arial"/>
                <a:cs typeface="Arial"/>
              </a:rPr>
              <a:t>A digitalização financeira não suspendeu essa dinâmica: reorganizou-a.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59836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82112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A rede física recuou seletivamente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e a convergência intermunicipal em cobertura, que vinha ocorrendo até 2019, congelou a partir de 2020.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10761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33037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A qualidade do crédito se descolou do volume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— a razão IRF/IRE caiu em quase toda a distribuição, com intensidade máxima onde o crédito longo já era escasso.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61688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83964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O efeito é um deslocamento, não um desaparecimento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— efeito direto e spillover têm sinais opostos: o que sai da periferia reaparece nos polos adjacentes.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12614"/>
            <a:ext cx="77724" cy="77724"/>
          </a:xfrm>
          <a:prstGeom prst="ellipse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34890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3F56"/>
                </a:solidFill>
                <a:latin typeface="Arial"/>
                <a:cs typeface="Arial"/>
              </a:rPr>
              <a:t>O canal dominante é tecnológico, não mecânico  </a:t>
            </a: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— a transformação qualitativa da carteira não depende de a agência fechar; ela ocorre também com a agência aberta.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76672"/>
            <a:ext cx="10911535" cy="603504"/>
          </a:xfrm>
          <a:prstGeom prst="rect">
            <a:avLst/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376672"/>
            <a:ext cx="50292" cy="603504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68112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3F56"/>
                </a:solidFill>
                <a:latin typeface="Arial"/>
                <a:cs typeface="Arial"/>
              </a:rPr>
              <a:t>Cabe à pesquisa e à política pública entender como — para que a promessa de inclusão não vire, na prática, mais um vetor de desigualdade.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82296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4" name="Picture 3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51560"/>
            <a:ext cx="2514600" cy="630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212848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353F56"/>
                </a:solidFill>
                <a:latin typeface="Arial"/>
                <a:cs typeface="Arial"/>
              </a:rPr>
              <a:t>Obrigado.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127248"/>
            <a:ext cx="1234440" cy="457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0156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2B3A"/>
                </a:solidFill>
                <a:latin typeface="Arial"/>
                <a:cs typeface="Arial"/>
              </a:rPr>
              <a:t>Coloco-me à disposição da banca para as arguições.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133087"/>
            <a:ext cx="4617720" cy="1417320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4133087"/>
            <a:ext cx="50292" cy="141732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431596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53F56"/>
                </a:solidFill>
                <a:latin typeface="Arial"/>
                <a:cs typeface="Arial"/>
              </a:rPr>
              <a:t>Flávio Hugo Pangracio Silva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flaviohugo.14@gmail.com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ORCID 0000-0003-4045-101X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github.com/flaviohugo14/masters-thesis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4133087"/>
            <a:ext cx="4617720" cy="141732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61888" y="4133087"/>
            <a:ext cx="50292" cy="141732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431596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REPRODUTIBILIDADE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B3A"/>
                </a:solidFill>
                <a:latin typeface="Arial"/>
                <a:cs typeface="Arial"/>
              </a:rPr>
              <a:t>Todo o pipeline — extração, construção dos indicadores, estimação e renderização — roda em R (renv + Quarto), com dependências pinadas e código público.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97880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7688"/>
                </a:solidFill>
                <a:latin typeface="Arial"/>
                <a:cs typeface="Arial"/>
              </a:rPr>
              <a:t>CEDEPLAR/UFMG  ·  Belo Horizonte  · 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3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482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693A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840480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Material de apoio para as arguições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6CCD8"/>
                </a:solidFill>
                <a:latin typeface="Arial"/>
                <a:cs typeface="Arial"/>
              </a:rPr>
              <a:t>Séries complementares, indicadores por porte e trajetórias dos estudos de caso</a:t>
            </a:r>
          </a:p>
        </p:txBody>
      </p:sp>
      <p:pic>
        <p:nvPicPr>
          <p:cNvPr id="8" name="Picture 7" descr="_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806440"/>
            <a:ext cx="169164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59975" y="63276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93A6"/>
                </a:solidFill>
                <a:latin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Penetração dos canais digitais (2009–2024)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37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penetraca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Taxas de habilitação de Internet Banking e Mobile Banking sobre o total de contas ativas. A virada IB→MB ocorre em 2015–2016 — a quebra dominante da dimensão de composição.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Participação do Mobile Banking no total de transações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38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participaca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Série de composição usada nos testes de quebra estrutural. Quebra dominante em 2016, quando o Mobile Banking ultrapassa o Internet Banking como canal predominante.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3F56"/>
                </a:solidFill>
                <a:latin typeface="Arial"/>
                <a:cs typeface="Arial"/>
              </a:rPr>
              <a:t>Proporção de transações com movimentação financeira efetiva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460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39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pctfi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Distingue consultas de transações que movimentam recursos — dimensão de composição do uso dos canais digitais.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53F56"/>
                </a:solidFill>
                <a:latin typeface="Arial"/>
                <a:cs typeface="Arial"/>
              </a:rPr>
              <a:t>Estoque total de agências bancárias no Brasil (2009–2022)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87627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40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agencias-tota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A retração da rede física em nível agregado. A série é truncada em 2022 por subnotificação do estoque de agências em 2023 na base utilizada.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Estoque de agências por faixa de PIB municipal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41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agencias-por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Decomposição da retração por porte econômico. Base da análise de heterogeneidade apresentada no Capítulo 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Razão crédito/PIB por faixa de porte municipal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42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redito-pib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Profundidade financeira local ao longo do período. Permite separar o efeito de nível do efeito de dinâmica pós-2020.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353F56"/>
                </a:solidFill>
                <a:latin typeface="Arial"/>
                <a:cs typeface="Arial"/>
              </a:rPr>
              <a:t>Preferência pela liquidez do público (PLP) e dos bancos (PLB)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62863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43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plp-plb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Medianas por porte econômico. O padrão teórico esperado — PLP e PLB mais elevados em municípios menores — se confirma empiricamente.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 i="0">
                <a:solidFill>
                  <a:srgbClr val="353F56"/>
                </a:solidFill>
                <a:latin typeface="Arial"/>
                <a:cs typeface="Arial"/>
              </a:rPr>
              <a:t>Concentração de operações (ICO) e concentração bancária (ICB)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46352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44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oncentraca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Municípios periféricos combinam alta concentração bancária e baixa diversificação de produtos: o padrão de exclusão financeira qualitativa.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Distribuição do score de exposição E</a:t>
            </a:r>
            <a:r>
              <a:rPr sz="2484" b="1" i="0" baseline="-25000">
                <a:solidFill>
                  <a:srgbClr val="353F56"/>
                </a:solidFill>
                <a:latin typeface="Arial"/>
                <a:cs typeface="Arial"/>
              </a:rPr>
              <a:t>i</a:t>
            </a: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 por faixa de PIB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45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exposicao-por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Gradiente monotônico: mediana de +2,1 d.p. nos municípios até R$ 100 milhões e −2,6 nos acima de R$ 2 bilhões. A sobreposição entre faixas justifica a medida contínua.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ESTUDOS DE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Belo Horizonte (MG): trajetória 2009–2023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46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aso-b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99" y="1316736"/>
            <a:ext cx="55686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Agências: 415 (2009) → 466 (2014) → 314 (2022), −33% no recorte 2014–2022. IRC de 1,79 para 2,62 (+47%). IRF/IRE: 0,63 → 1,28 (2015) → 0,52 (2022).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ESTUDOS DE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Juiz de Fora (MG): trajetória 2009–2023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47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aso-jf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99" y="1316736"/>
            <a:ext cx="55686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Cidade média de centralidade regional, 540 mil habitantes e 46 agências em 2022. Perda de 21% da rede e IRC estável em 0,76 — a trajetória mais preservada dos quatro casos.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ESTUDOS DE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Betim (MG): trajetória 2009–2023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48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aso-beti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99" y="1316736"/>
            <a:ext cx="55686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Polo industrial da RMBH com PIB acima de R$ 20 bilhões e apenas 16 agências. Perda de 36% da rede e queda de 70% no IRC: periferia financeira dentro da própria região metropolitana.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ESTUDOS DE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Almenara (MG): trajetória 2009–2023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49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aso-almena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99" y="1316736"/>
            <a:ext cx="55686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Polo do Baixo Jequitinhonha, 40 mil habitantes e 5 agências mantidas em todo o período por bancos públicos. Ainda assim, a razão IRF/IRE caiu 43% entre 2014 e 2022.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Composição do crédito: empréstimos e financiamentos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50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credito-composica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99" y="1316736"/>
            <a:ext cx="5568696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Decomposição das contas 161 e 162 da ESTBAN que originam a razão IRF/IRE, proxy central de qualidade do crédito nesta dissertação.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Transações com movimentação financeira por canal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51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pic>
        <p:nvPicPr>
          <p:cNvPr id="9" name="Picture 8" descr="fig-movfi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127" y="1316736"/>
            <a:ext cx="61874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3153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52B3A"/>
                </a:solidFill>
                <a:latin typeface="Arial"/>
                <a:cs typeface="Arial"/>
              </a:rPr>
              <a:t>Série auxiliar da dimensão de utilização usada na datação do choque digital.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3A"/>
                </a:solidFill>
                <a:latin typeface="Arial"/>
                <a:cs typeface="Arial"/>
              </a:rPr>
              <a:t>ANEXO · CAPÍTULO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3F56"/>
                </a:solidFill>
                <a:latin typeface="Arial"/>
                <a:cs typeface="Arial"/>
              </a:rPr>
              <a:t>Anexo — desenho de identificação em uma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04138"/>
            <a:ext cx="960120" cy="41148"/>
          </a:xfrm>
          <a:prstGeom prst="rect">
            <a:avLst/>
          </a:prstGeom>
          <a:solidFill>
            <a:srgbClr val="FF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11535" cy="10972"/>
          </a:xfrm>
          <a:prstGeom prst="rect">
            <a:avLst/>
          </a:prstGeom>
          <a:solidFill>
            <a:srgbClr val="DC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563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688"/>
                </a:solidFill>
                <a:latin typeface="Arial"/>
                <a:cs typeface="Arial"/>
              </a:rPr>
              <a:t>Anexos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008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3F56"/>
                </a:solidFill>
                <a:latin typeface="Arial"/>
                <a:cs typeface="Arial"/>
              </a:rPr>
              <a:t>52</a:t>
            </a:r>
          </a:p>
        </p:txBody>
      </p:sp>
      <p:pic>
        <p:nvPicPr>
          <p:cNvPr id="8" name="Picture 7" descr="logo-cede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183" y="6638544"/>
            <a:ext cx="1170432" cy="29260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11533" cy="4114800"/>
        </p:xfrm>
        <a:graphic>
          <a:graphicData uri="http://schemas.openxmlformats.org/drawingml/2006/table">
            <a:tbl>
              <a:tblPr firstRow="0" bandRow="0"/>
              <a:tblGrid>
                <a:gridCol w="2073191"/>
                <a:gridCol w="4091825"/>
                <a:gridCol w="2564210"/>
                <a:gridCol w="218230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Saída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353F5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1. Datação do choque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Bai-Perron, Quandt-Andrews e Chow sobre 7 séries FEBRABAN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Bai &amp; Perron (2003); Andrews (1993)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t* = 2020 (2016 secundário)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2. Exposição ex-ante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ACP sobre 5 variáveis pré-2014, PC1 como score contínuo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Borusyak et al. (2024)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Eᵢ — 44,6% da variância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3. Dinâmica do efeito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Event study com interações ano a ano, referência k = −1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fixest::feols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Convergência interrompida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4. Efeito médio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DiD com tratamento contínuo, EF de município e ano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β por desfecho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5. Heterogeneidade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Interação tripla Post × faixa de porte, P4 como referência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δp por faixa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6. Spillovers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SLX-DiD com W de contiguidade rainha row-normalizada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Halleck Vega &amp; Elhorst (2015)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β direto e θ spillover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7. Mecanismo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Mediação causal em painel, Sobel + bootstrap de blocos (B = 500)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Imai, Keele &amp; Tingley (2010)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ACME, ADE, τ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8. Distribuição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Quantílica em painel em duas etapas, τ de 0,10 a 0,90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Canay (2011)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βτ por quantil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 i="0">
                          <a:solidFill>
                            <a:srgbClr val="353F56"/>
                          </a:solidFill>
                          <a:latin typeface="Arial"/>
                          <a:cs typeface="Arial"/>
                        </a:rPr>
                        <a:t>9. Robustez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Controles reais, placebo 2014, DiD sintético e W alternativas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Arkhangelsky et al. (2021)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0" i="0">
                          <a:solidFill>
                            <a:srgbClr val="252B3A"/>
                          </a:solidFill>
                          <a:latin typeface="Arial"/>
                          <a:cs typeface="Arial"/>
                        </a:rPr>
                        <a:t>Validação e ressalvas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DCE0E8"/>
                      </a:solidFill>
                    </a:lnB>
                    <a:lnT w="6350" cap="flat" cmpd="sng" algn="ctr">
                      <a:solidFill>
                        <a:srgbClr val="DCE0E8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76072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E7688"/>
                </a:solidFill>
                <a:latin typeface="Arial"/>
                <a:cs typeface="Arial"/>
              </a:rPr>
              <a:t>Painel município-ano 2009–2023 (5.570 municípios). Modelos estimados em R com fixest, quantreg, mediation, synthdid, sf/spdep e geobr.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